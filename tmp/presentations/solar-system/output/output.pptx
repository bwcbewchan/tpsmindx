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9bf98b01f4505" /><Relationship Type="http://schemas.openxmlformats.org/officeDocument/2006/relationships/extended-properties" Target="/docProps/app.xml" Id="Ra34d9a8dd4824947" /><Relationship Type="http://schemas.openxmlformats.org/officeDocument/2006/relationships/officeDocument" Target="/ppt/presentation.xml" Id="Rf0f8c252b37342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e6b0503db4191"/>
  </p:sldMasterIdLst>
  <p:notesMasterIdLst>
    <p:notesMasterId xmlns:r="http://schemas.openxmlformats.org/officeDocument/2006/relationships" r:id="R6e093c3ef0d34c2e"/>
  </p:notesMasterIdLst>
  <p:sldIdLst>
    <p:sldId xmlns:r="http://schemas.openxmlformats.org/officeDocument/2006/relationships" id="256" r:id="R5af84f0b48824975"/>
    <p:sldId xmlns:r="http://schemas.openxmlformats.org/officeDocument/2006/relationships" id="257" r:id="Rffb225ae9d6f4d96"/>
    <p:sldId xmlns:r="http://schemas.openxmlformats.org/officeDocument/2006/relationships" id="258" r:id="R1291711d152c4cd7"/>
    <p:sldId xmlns:r="http://schemas.openxmlformats.org/officeDocument/2006/relationships" id="259" r:id="Rcbc33518611c40dc"/>
    <p:sldId xmlns:r="http://schemas.openxmlformats.org/officeDocument/2006/relationships" id="260" r:id="Rfb5d332a5faa4393"/>
    <p:sldId xmlns:r="http://schemas.openxmlformats.org/officeDocument/2006/relationships" id="261" r:id="R21c4b645b444471b"/>
    <p:sldId xmlns:r="http://schemas.openxmlformats.org/officeDocument/2006/relationships" id="262" r:id="Rb2bb3be711a54231"/>
    <p:sldId xmlns:r="http://schemas.openxmlformats.org/officeDocument/2006/relationships" id="263" r:id="Rc66864cd6433488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e6b0503db4191" /><Relationship Type="http://schemas.openxmlformats.org/officeDocument/2006/relationships/theme" Target="/ppt/theme/theme1.xml" Id="R513ee31e95954648" /><Relationship Type="http://schemas.openxmlformats.org/officeDocument/2006/relationships/notesMaster" Target="/ppt/notesMasters/notesMaster1.xml" Id="R6e093c3ef0d34c2e" /><Relationship Type="http://schemas.openxmlformats.org/officeDocument/2006/relationships/presProps" Target="/ppt/presProps.xml" Id="Ra7c82eb594064639" /><Relationship Type="http://schemas.openxmlformats.org/officeDocument/2006/relationships/viewProps" Target="/ppt/viewProps.xml" Id="R5fe9f838fb6142e8" /><Relationship Type="http://schemas.openxmlformats.org/officeDocument/2006/relationships/tableStyles" Target="/ppt/tableStyles.xml" Id="Re5998c905f504d53" /><Relationship Type="http://schemas.openxmlformats.org/officeDocument/2006/relationships/slide" Target="/ppt/slides/slide1.xml" Id="R5af84f0b48824975" /><Relationship Type="http://schemas.openxmlformats.org/officeDocument/2006/relationships/slide" Target="/ppt/slides/slide2.xml" Id="Rffb225ae9d6f4d96" /><Relationship Type="http://schemas.openxmlformats.org/officeDocument/2006/relationships/slide" Target="/ppt/slides/slide3.xml" Id="R1291711d152c4cd7" /><Relationship Type="http://schemas.openxmlformats.org/officeDocument/2006/relationships/slide" Target="/ppt/slides/slide4.xml" Id="Rcbc33518611c40dc" /><Relationship Type="http://schemas.openxmlformats.org/officeDocument/2006/relationships/slide" Target="/ppt/slides/slide5.xml" Id="Rfb5d332a5faa4393" /><Relationship Type="http://schemas.openxmlformats.org/officeDocument/2006/relationships/slide" Target="/ppt/slides/slide6.xml" Id="R21c4b645b444471b" /><Relationship Type="http://schemas.openxmlformats.org/officeDocument/2006/relationships/slide" Target="/ppt/slides/slide7.xml" Id="Rb2bb3be711a54231" /><Relationship Type="http://schemas.openxmlformats.org/officeDocument/2006/relationships/slide" Target="/ppt/slides/slide8.xml" Id="Rc66864cd6433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7b13a4081a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9238c42e849b5" /><Relationship Type="http://schemas.openxmlformats.org/officeDocument/2006/relationships/notesMaster" Target="/ppt/notesMasters/notesMaster1.xml" Id="Rcb90e025e396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d66f1b2d3423c" /><Relationship Type="http://schemas.openxmlformats.org/officeDocument/2006/relationships/notesMaster" Target="/ppt/notesMasters/notesMaster1.xml" Id="Rf0be449ff6a3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fefb73794243c8" /><Relationship Type="http://schemas.openxmlformats.org/officeDocument/2006/relationships/notesMaster" Target="/ppt/notesMasters/notesMaster1.xml" Id="R87efc4d6b998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c770e35a8d460c" /><Relationship Type="http://schemas.openxmlformats.org/officeDocument/2006/relationships/notesMaster" Target="/ppt/notesMasters/notesMaster1.xml" Id="R26315020a1a54d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d4fbc822f743c2" /><Relationship Type="http://schemas.openxmlformats.org/officeDocument/2006/relationships/notesMaster" Target="/ppt/notesMasters/notesMaster1.xml" Id="R991fb9d745e441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f2bcb8b8824d4e" /><Relationship Type="http://schemas.openxmlformats.org/officeDocument/2006/relationships/notesMaster" Target="/ppt/notesMasters/notesMaster1.xml" Id="R486b9199bafa4e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046f981e44f76" /><Relationship Type="http://schemas.openxmlformats.org/officeDocument/2006/relationships/notesMaster" Target="/ppt/notesMasters/notesMaster1.xml" Id="R8264a76532af45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672315dfa34f85" /><Relationship Type="http://schemas.openxmlformats.org/officeDocument/2006/relationships/notesMaster" Target="/ppt/notesMasters/notesMaster1.xml" Id="R489480de7841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fd1b0af3a46b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d027ccc09f4fa2" /><Relationship Type="http://schemas.openxmlformats.org/officeDocument/2006/relationships/slideLayout" Target="/ppt/slideLayouts/slideLayout2.xml" Id="R5b68f8c82c6146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68f8c82c6146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5979dd62fa4218" /><Relationship Type="http://schemas.openxmlformats.org/officeDocument/2006/relationships/image" Target="/ppt/media/image.jpeg" Id="R2d579748d4fa428b" /><Relationship Type="http://schemas.openxmlformats.org/officeDocument/2006/relationships/notesSlide" Target="/ppt/notesSlides/notesSlide1.xml" Id="R52a49b83a24244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6b90a0135f46ba" /><Relationship Type="http://schemas.openxmlformats.org/officeDocument/2006/relationships/image" Target="/ppt/media/image2.jpeg" Id="Rfccfd02b96d04c20" /><Relationship Type="http://schemas.openxmlformats.org/officeDocument/2006/relationships/notesSlide" Target="/ppt/notesSlides/notesSlide2.xml" Id="R3ea15d3919f64e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ecdc58be454a19" /><Relationship Type="http://schemas.openxmlformats.org/officeDocument/2006/relationships/notesSlide" Target="/ppt/notesSlides/notesSlide3.xml" Id="R1b9b975d1d2f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fa905308af46b9" /><Relationship Type="http://schemas.openxmlformats.org/officeDocument/2006/relationships/image" Target="/ppt/media/image3.jpeg" Id="R0c0cb1e48d6d47ed" /><Relationship Type="http://schemas.openxmlformats.org/officeDocument/2006/relationships/notesSlide" Target="/ppt/notesSlides/notesSlide4.xml" Id="R5988954c5572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f5d05032d48e8" /><Relationship Type="http://schemas.openxmlformats.org/officeDocument/2006/relationships/image" Target="/ppt/media/image4.jpeg" Id="Rb48b522dc49e4d6f" /><Relationship Type="http://schemas.openxmlformats.org/officeDocument/2006/relationships/image" Target="/ppt/media/image5.jpeg" Id="R88561b01ca35448f" /><Relationship Type="http://schemas.openxmlformats.org/officeDocument/2006/relationships/notesSlide" Target="/ppt/notesSlides/notesSlide5.xml" Id="R8414b8732ee3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c32a6764c44eb" /><Relationship Type="http://schemas.openxmlformats.org/officeDocument/2006/relationships/notesSlide" Target="/ppt/notesSlides/notesSlide6.xml" Id="R1e2f08045c6d4a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75cb93de8d4c4c" /><Relationship Type="http://schemas.openxmlformats.org/officeDocument/2006/relationships/notesSlide" Target="/ppt/notesSlides/notesSlide7.xml" Id="Rf4a5fe6d372340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11f43afb584d99" /><Relationship Type="http://schemas.openxmlformats.org/officeDocument/2006/relationships/image" Target="/ppt/media/image6.jpeg" Id="R8e90f62fc820496d" /><Relationship Type="http://schemas.openxmlformats.org/officeDocument/2006/relationships/notesSlide" Target="/ppt/notesSlides/notesSlide8.xml" Id="R9ae4a0cc96c84c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4C4FB5-EB70-4EEC-80E6-9CD6ACF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B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79748d4fa428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26A46-FA14-47A2-B941-8596F6A0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B">
              <a:alpha val="80000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F77CE-73D8-49D1-8C81-E05C3B13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B">
              <a:alpha val="90980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F78C-69BC-4C0B-8718-7CF7337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66675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4A"/>
          </a:solidFill>
        </p:spPr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34A621-266B-40F5-AA93-0510D48E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52550"/>
            <a:ext cx="6286500" cy="38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F7F2E8"/>
                </a:solidFill>
              </a:defRPr>
            </a:pPr>
            <a:r>
              <a:rPr sz="8400" b="1">
                <a:solidFill>
                  <a:srgbClr val="F7F2E8"/>
                </a:solidFill>
              </a:rPr>
              <a:t>THE</a:t>
            </a:r>
          </a:p>
          <a:p xmlns:a="http://schemas.openxmlformats.org/drawingml/2006/main">
            <a:pPr>
              <a:defRPr sz="8400" b="1">
                <a:solidFill>
                  <a:srgbClr val="F7F2E8"/>
                </a:solidFill>
              </a:defRPr>
            </a:pPr>
            <a:r>
              <a:rPr sz="8400" b="1">
                <a:solidFill>
                  <a:srgbClr val="F7F2E8"/>
                </a:solidFill>
              </a:rPr>
              <a:t>SOLAR</a:t>
            </a:r>
          </a:p>
          <a:p xmlns:a="http://schemas.openxmlformats.org/drawingml/2006/main">
            <a:pPr>
              <a:defRPr sz="8400" b="1">
                <a:solidFill>
                  <a:srgbClr val="F7F2E8"/>
                </a:solidFill>
              </a:defRPr>
            </a:pPr>
            <a:r>
              <a:rPr sz="8400" b="1">
                <a:solidFill>
                  <a:srgbClr val="F7F2E8"/>
                </a:solidFill>
              </a:rPr>
              <a:t>SYSTEM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0033637-E8AC-4C69-9089-A788345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0250"/>
            <a:ext cx="590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B8C1D9"/>
                </a:solidFill>
              </a:defRPr>
            </a:pPr>
            <a:r>
              <a:rPr sz="2325">
                <a:solidFill>
                  <a:srgbClr val="B8C1D9"/>
                </a:solidFill>
              </a:rPr>
              <a:t>A guided tour from the star that holds it together to the icy worlds at its edge.</a:t>
            </a:r>
          </a:p>
        </p:txBody>
      </p:sp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452F703-20BD-4F77-998A-B417B8B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71525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B24A"/>
                </a:solidFill>
              </a:defRPr>
            </a:pPr>
            <a:r>
              <a:rPr sz="1650" b="1">
                <a:solidFill>
                  <a:srgbClr val="F6B24A"/>
                </a:solidFill>
              </a:rPr>
              <a:t>8 planets. 1 star. Billions of small worlds.</a:t>
            </a:r>
          </a:p>
        </p:txBody>
      </p:sp>
    </p:spTree>
    <p:extLst>
      <p:ext uri="{BB962C8B-B14F-4D97-AF65-F5344CB8AC3E}">
        <p14:creationId xmlns:p14="http://schemas.microsoft.com/office/powerpoint/2010/main" val="2614699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F253C-2EA1-42A9-963D-FADE4F1D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5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61EFB-8B8A-4226-BE5C-03D62A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027" y="77200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FFE49-2D77-4CF8-95B4-C480D362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918" y="738316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14504-F454-4F21-99E3-D225D61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5597" y="278262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EEE0F-EBA0-4721-895D-3B6790C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452" y="660217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13FB1-00FB-45AD-83A3-3C5E1F0E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519" y="410725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ADB89-DF6E-4C15-90D2-D8A85EED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284" y="37007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D5507-5252-494A-BD02-9ED7D8A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760" y="51501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F25E5-91E9-4E83-9893-C02089F8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635" y="74940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F561D-3070-4654-ADC8-123244C2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194" y="79779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907A8-0D73-4617-9437-980D4182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8807" y="181649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334EC-84CF-485F-A8D9-2BE2FFC8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0700" y="964882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D006F-5A08-4B15-ABE8-456ECEC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9" y="610393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08F4F-3358-425F-A6C4-1E55B94C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252" y="635171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B505E-E4C1-48F9-A7C1-3C6D5870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9795" y="141297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FC7A6-3D69-4EAA-AEE3-EF816439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015" y="599369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D392E-2074-4ADA-AAFB-C305816B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963" y="169110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B8C15-AF9E-43B0-8CEF-4EEAEC3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439" y="333242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8C8B6-01F1-408B-9EAC-45FCA8D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847" y="557650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33680-99D7-44DF-8312-269EB0E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350" y="153455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292DA-3D94-4607-BCDC-978C778A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8062" y="27572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C76F0-3BD2-4913-B33F-9AF3B64F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049" y="351624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02BF5-B8A9-4401-9253-D340A0F3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865" y="723240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0B319-700E-4919-8B63-3F49D31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398" y="392651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3B66E-BBE4-48A4-91D2-4CD8B9B8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2750" y="499478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E2C2F-60D0-4E36-8DDA-A60A7B71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922" y="2347529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902EB-B734-469F-A1D0-D216B8F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044" y="703130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86C3B-ACBE-497B-8CAF-92F52D4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898" y="685087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E1134-5375-4329-9CDB-2F07A057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96" y="645802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C51A3-87EB-4F79-A9FA-5C23211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447" y="733573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58661-3196-4079-859F-6F79E0BC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76" y="370506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2DAD6-6B51-4971-B93C-54A0A70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35" y="94500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E2F0D-E48C-4282-82B9-E9B22D4A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565" y="396491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5C5C4-EB33-44DE-8F6E-9637120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5557" y="783738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57697-22DB-4849-8695-13EE210A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0152" y="499673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ADAF5E-4379-41E8-9511-BE1A5700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442" y="530632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3DD115-4B76-44C5-874F-ACEFC9B4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022" y="614754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4CE3D4-18FB-45D9-B81D-9E1716B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734" y="656001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281ACF-7640-4EE8-AB2A-2B44A910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958" y="772943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8C1FC4-67F3-48EF-91A4-361A4DA8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199" y="641320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72222D-163D-475A-8A69-650D686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6726" y="75259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192C92-4C5E-4AB2-B381-32B9E0E6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006" y="991808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06885A-C338-4BE2-9158-7194206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677" y="873636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2102DE-1C6F-4420-9A1B-AED0AB11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32" y="1020293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4186FB-1AD4-40A8-977D-9343B5B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335" y="671923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948E10-9A1F-4352-A873-93ABC31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947" y="8101923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438B26-BBA5-4C03-940C-1E0D081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6991" y="550369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448523-C24A-4C4E-B2A1-FACB7E5F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" y="156663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D75D28-62B3-472F-97B8-2288BC1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302" y="281311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1716D0-D592-48C6-B5A9-D214BEE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6680" y="658169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734D76-EB0C-4146-9D6A-49AF261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877" y="710051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2A6B00-EEDF-4A64-85BC-321C906B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668" y="6714214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EE1C63-0E70-46DC-B61C-EEF024F4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8" y="27826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E01BA9-73C7-482F-B5BE-772B4CCC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73" y="617628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65D93B-BB38-4B22-9F1E-C94D1FAE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608" y="396076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9DF2EE-BF36-4082-8650-00302A2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9958" y="123429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1791B6-A80A-4338-9A3D-CEBD8874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10" y="233203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0056E3-DE97-4D70-874F-4A4D6DEF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5742" y="369628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9FC05C-7BAB-45A9-B534-9EBE8CF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756" y="967421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BED1C6-6628-46AF-BDA5-05B6766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299" y="3320153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B02A70-B45B-460C-B120-5B801C8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43" y="480805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E0A539-71A6-42FB-89E4-F49A4912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049" y="287389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5682D0-70AF-4323-A5B3-BAFB31EB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188" y="1019432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E9EDB9-A791-4246-9EC1-94047C8B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853" y="240366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87A7F4-D80B-4C0D-BFC6-D92EAD11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5719" y="708613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0F904E-728C-4B3C-833E-3112C855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104" y="4718889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939C3A-7899-4F37-B44C-F2D8D3D7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070" y="562924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437DD6-F554-4CF8-B4D8-43FAF2B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826" y="94623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354736-ACBE-42E8-B0DC-2816A7CE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176" y="244824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200A-5593-4E4F-B349-A272054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8763" y="8161539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9D4407-6C88-4DD9-8512-6605C838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863" y="59774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fd02b96d04c20"/>
          <a:srcRect xmlns:a="http://schemas.openxmlformats.org/drawingml/2006/main" l="5781" t="0" r="5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90750" y="400050"/>
            <a:ext cx="8001000" cy="8001000"/>
          </a:xfrm>
          <a:prstGeom xmlns:a="http://schemas.openxmlformats.org/drawingml/2006/main" prst="ellipse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8B076B-2622-4705-9029-CC870F08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209550"/>
            <a:ext cx="8382000" cy="838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7A">
                <a:alpha val="40000"/>
              </a:srgbClr>
            </a:solidFill>
          </a:ln>
        </p:spPr>
      </p:sp>
      <p:sp>
        <p:nvSpPr>
          <p:cNvPr id="7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15BBA9-015A-476D-8FAE-9578D67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11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2E8"/>
                </a:solidFill>
              </a:defRPr>
            </a:pPr>
            <a:r>
              <a:rPr sz="4650" b="1">
                <a:solidFill>
                  <a:srgbClr val="F7F2E8"/>
                </a:solidFill>
              </a:rPr>
              <a:t>The Sun is the system</a:t>
            </a:r>
          </a:p>
        </p:txBody>
      </p:sp>
      <p:sp>
        <p:nvSpPr>
          <p:cNvPr id="7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4D6D9C-C86C-439A-AD86-7C7B24F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6400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8C1D9"/>
                </a:solidFill>
              </a:defRPr>
            </a:pPr>
            <a:r>
              <a:rPr sz="1950">
                <a:solidFill>
                  <a:srgbClr val="B8C1D9"/>
                </a:solidFill>
              </a:rPr>
              <a:t>Its gravity, light, and solar wind set the rules for everything else.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F34EED-0408-450B-94D1-177AF6F5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4A"/>
          </a:solidFill>
        </p:spPr>
      </p:sp>
      <p:sp>
        <p:nvSpPr>
          <p:cNvPr id="77" name="callout-title-Mass anchor">
            <a:extLst xmlns:a="http://schemas.openxmlformats.org/drawingml/2006/main">
              <a:ext uri="{FF2B5EF4-FFF2-40B4-BE49-F238E27FC236}">
                <a16:creationId xmlns:a16="http://schemas.microsoft.com/office/drawing/2014/main" id="{986F7F13-24C0-46BB-B477-F7E212BD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419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Mass anchor</a:t>
            </a:r>
          </a:p>
        </p:txBody>
      </p:sp>
      <p:sp>
        <p:nvSpPr>
          <p:cNvPr id="78" name="callout-body-Mass anchor">
            <a:extLst xmlns:a="http://schemas.openxmlformats.org/drawingml/2006/main">
              <a:ext uri="{FF2B5EF4-FFF2-40B4-BE49-F238E27FC236}">
                <a16:creationId xmlns:a16="http://schemas.microsoft.com/office/drawing/2014/main" id="{0A6644A5-AFA5-4BAF-9991-2E6B39E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86150"/>
            <a:ext cx="419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The Sun holds about 99.8% of the solar system's mass.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007D4F-7D49-4A7D-BD4A-32862DC0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38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9FF"/>
          </a:solidFill>
        </p:spPr>
      </p:sp>
      <p:sp>
        <p:nvSpPr>
          <p:cNvPr id="80" name="callout-title-Energy source">
            <a:extLst xmlns:a="http://schemas.openxmlformats.org/drawingml/2006/main">
              <a:ext uri="{FF2B5EF4-FFF2-40B4-BE49-F238E27FC236}">
                <a16:creationId xmlns:a16="http://schemas.microsoft.com/office/drawing/2014/main" id="{F0EA2C20-DBAC-4585-862D-836C8D97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7625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Energy source</a:t>
            </a:r>
          </a:p>
        </p:txBody>
      </p:sp>
      <p:sp>
        <p:nvSpPr>
          <p:cNvPr id="81" name="callout-body-Energy source">
            <a:extLst xmlns:a="http://schemas.openxmlformats.org/drawingml/2006/main">
              <a:ext uri="{FF2B5EF4-FFF2-40B4-BE49-F238E27FC236}">
                <a16:creationId xmlns:a16="http://schemas.microsoft.com/office/drawing/2014/main" id="{DAE3FE61-F2C4-4B66-A19E-3171897D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143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Sunlight drives climates, seasons, and photosynthesis on Earth.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DA65A2-3159-4A75-935F-DDA97E51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648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45"/>
          </a:solidFill>
        </p:spPr>
      </p:sp>
      <p:sp>
        <p:nvSpPr>
          <p:cNvPr id="83" name="callout-title-Space weather">
            <a:extLst xmlns:a="http://schemas.openxmlformats.org/drawingml/2006/main">
              <a:ext uri="{FF2B5EF4-FFF2-40B4-BE49-F238E27FC236}">
                <a16:creationId xmlns:a16="http://schemas.microsoft.com/office/drawing/2014/main" id="{43F4398D-B629-43A9-80ED-15DF94B6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57225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Space weather</a:t>
            </a:r>
          </a:p>
        </p:txBody>
      </p:sp>
      <p:sp>
        <p:nvSpPr>
          <p:cNvPr id="84" name="callout-body-Space weather">
            <a:extLst xmlns:a="http://schemas.openxmlformats.org/drawingml/2006/main">
              <a:ext uri="{FF2B5EF4-FFF2-40B4-BE49-F238E27FC236}">
                <a16:creationId xmlns:a16="http://schemas.microsoft.com/office/drawing/2014/main" id="{9B138F88-F078-4668-BDDE-7029F1A4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953250"/>
            <a:ext cx="5334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Solar wind shapes magnetic fields, auroras, and radiation environments.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E1EA43-92B1-44D1-A6FA-0F51A58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C4669">
                <a:alpha val="33333"/>
              </a:srgbClr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57F25AB-463D-48DE-A94E-A5B3E32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C4669">
                <a:alpha val="33333"/>
              </a:srgbClr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BCA313-74DE-450C-924E-A9A046E1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C4669">
                <a:alpha val="33333"/>
              </a:srgbClr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760DF13-4F23-4293-A8FC-6B6BF00C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477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C4669">
                <a:alpha val="33333"/>
              </a:srgbClr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1E6EF69-9FBE-4D48-96AC-D190E86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7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9FF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</a:ln>
        </p:spPr>
      </p:sp>
      <p:sp>
        <p:nvSpPr>
          <p:cNvPr id="90" name="label-Earth">
            <a:extLst xmlns:a="http://schemas.openxmlformats.org/drawingml/2006/main">
              <a:ext uri="{FF2B5EF4-FFF2-40B4-BE49-F238E27FC236}">
                <a16:creationId xmlns:a16="http://schemas.microsoft.com/office/drawing/2014/main" id="{2B76941D-DD47-4ED4-941A-115BE106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81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Earth</a:t>
            </a:r>
          </a:p>
        </p:txBody>
      </p:sp>
      <p:sp>
        <p:nvSpPr>
          <p:cNvPr id="91" name="sublabel-Earth">
            <a:extLst xmlns:a="http://schemas.openxmlformats.org/drawingml/2006/main">
              <a:ext uri="{FF2B5EF4-FFF2-40B4-BE49-F238E27FC236}">
                <a16:creationId xmlns:a16="http://schemas.microsoft.com/office/drawing/2014/main" id="{11B36820-11C6-4579-8527-98EF2568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478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one orbit per year</a:t>
            </a:r>
          </a:p>
        </p:txBody>
      </p:sp>
      <p:sp>
        <p:nvSpPr>
          <p:cNvPr id="92" name="source">
            <a:extLst xmlns:a="http://schemas.openxmlformats.org/drawingml/2006/main">
              <a:ext uri="{FF2B5EF4-FFF2-40B4-BE49-F238E27FC236}">
                <a16:creationId xmlns:a16="http://schemas.microsoft.com/office/drawing/2014/main" id="{EDE7C22E-BCA6-4E0E-8221-AEEB6C6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C"/>
                </a:solidFill>
              </a:defRPr>
            </a:pPr>
            <a:r>
              <a:rPr sz="1050">
                <a:solidFill>
                  <a:srgbClr val="65708C"/>
                </a:solidFill>
              </a:rPr>
              <a:t>Rounded solar-system facts.</a:t>
            </a:r>
          </a:p>
        </p:txBody>
      </p:sp>
    </p:spTree>
    <p:extLst>
      <p:ext uri="{BB962C8B-B14F-4D97-AF65-F5344CB8AC3E}">
        <p14:creationId xmlns:p14="http://schemas.microsoft.com/office/powerpoint/2010/main" val="1229111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636AE-0598-4B7A-8EEC-9FF8147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1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F9AF7B-373E-4D5E-AB05-B2C1ECB5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11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2E8"/>
                </a:solidFill>
              </a:defRPr>
            </a:pPr>
            <a:r>
              <a:rPr sz="4650" b="1">
                <a:solidFill>
                  <a:srgbClr val="F7F2E8"/>
                </a:solidFill>
              </a:rPr>
              <a:t>The inner worlds are rocky and close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3E6FE4-29FA-4646-8174-E3D0460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032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8C1D9"/>
                </a:solidFill>
              </a:defRPr>
            </a:pPr>
            <a:r>
              <a:rPr sz="1950">
                <a:solidFill>
                  <a:srgbClr val="B8C1D9"/>
                </a:solidFill>
              </a:rPr>
              <a:t>Mercury, Venus, Earth, and Mars formed in the warmer inner disk, where rock and metal could survive.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75204-953A-4600-871B-72E1A550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57500"/>
            <a:ext cx="14288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BE4B2-4E49-4C39-A97A-F0D5F00E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A79A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6" name="inner-Mercury">
            <a:extLst xmlns:a="http://schemas.openxmlformats.org/drawingml/2006/main">
              <a:ext uri="{FF2B5EF4-FFF2-40B4-BE49-F238E27FC236}">
                <a16:creationId xmlns:a16="http://schemas.microsoft.com/office/drawing/2014/main" id="{5B09590F-27CE-4015-9944-3EF8D2A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530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2E8"/>
                </a:solidFill>
              </a:defRPr>
            </a:pPr>
            <a:r>
              <a:rPr sz="2550" b="1">
                <a:solidFill>
                  <a:srgbClr val="F7F2E8"/>
                </a:solidFill>
              </a:rPr>
              <a:t>Mercury</a:t>
            </a:r>
          </a:p>
        </p:txBody>
      </p:sp>
      <p:sp>
        <p:nvSpPr>
          <p:cNvPr id="7" name="inner-au-Mercury">
            <a:extLst xmlns:a="http://schemas.openxmlformats.org/drawingml/2006/main">
              <a:ext uri="{FF2B5EF4-FFF2-40B4-BE49-F238E27FC236}">
                <a16:creationId xmlns:a16="http://schemas.microsoft.com/office/drawing/2014/main" id="{2F63DCA8-248D-47FE-976A-63CAEDCA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29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B24A"/>
                </a:solidFill>
              </a:defRPr>
            </a:pPr>
            <a:r>
              <a:rPr sz="1650" b="1">
                <a:solidFill>
                  <a:srgbClr val="F6B24A"/>
                </a:solidFill>
              </a:rPr>
              <a:t>0.39 AU</a:t>
            </a:r>
          </a:p>
        </p:txBody>
      </p:sp>
      <p:sp>
        <p:nvSpPr>
          <p:cNvPr id="8" name="inner-desc-Mercury">
            <a:extLst xmlns:a="http://schemas.openxmlformats.org/drawingml/2006/main">
              <a:ext uri="{FF2B5EF4-FFF2-40B4-BE49-F238E27FC236}">
                <a16:creationId xmlns:a16="http://schemas.microsoft.com/office/drawing/2014/main" id="{E4CBB1D5-D383-4184-BC4F-DB0CB82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09600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Smallest planet; extreme temperature swings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5A78E-7455-40D0-9957-1D28F41C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14288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995B1-E5C4-4C6C-982E-E3D2590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066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11" name="inner-Venus">
            <a:extLst xmlns:a="http://schemas.openxmlformats.org/drawingml/2006/main">
              <a:ext uri="{FF2B5EF4-FFF2-40B4-BE49-F238E27FC236}">
                <a16:creationId xmlns:a16="http://schemas.microsoft.com/office/drawing/2014/main" id="{CA9F208F-3A6F-4AB7-991F-A3A53268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530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2E8"/>
                </a:solidFill>
              </a:defRPr>
            </a:pPr>
            <a:r>
              <a:rPr sz="2550" b="1">
                <a:solidFill>
                  <a:srgbClr val="F7F2E8"/>
                </a:solidFill>
              </a:rPr>
              <a:t>Venus</a:t>
            </a:r>
          </a:p>
        </p:txBody>
      </p:sp>
      <p:sp>
        <p:nvSpPr>
          <p:cNvPr id="12" name="inner-au-Venus">
            <a:extLst xmlns:a="http://schemas.openxmlformats.org/drawingml/2006/main">
              <a:ext uri="{FF2B5EF4-FFF2-40B4-BE49-F238E27FC236}">
                <a16:creationId xmlns:a16="http://schemas.microsoft.com/office/drawing/2014/main" id="{E29E9A74-314A-4157-9023-8982DB3D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29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B24A"/>
                </a:solidFill>
              </a:defRPr>
            </a:pPr>
            <a:r>
              <a:rPr sz="1650" b="1">
                <a:solidFill>
                  <a:srgbClr val="F6B24A"/>
                </a:solidFill>
              </a:rPr>
              <a:t>0.72 AU</a:t>
            </a:r>
          </a:p>
        </p:txBody>
      </p:sp>
      <p:sp>
        <p:nvSpPr>
          <p:cNvPr id="13" name="inner-desc-Venus">
            <a:extLst xmlns:a="http://schemas.openxmlformats.org/drawingml/2006/main">
              <a:ext uri="{FF2B5EF4-FFF2-40B4-BE49-F238E27FC236}">
                <a16:creationId xmlns:a16="http://schemas.microsoft.com/office/drawing/2014/main" id="{E62B1076-50B1-4C09-BAD9-57492358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09600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Thick CO2 atmosphere; hottest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7C63F-A8B4-4571-9B88-15A8204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4288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CB95C-8D87-4598-AD48-1D85044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05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9FF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16" name="inner-Earth">
            <a:extLst xmlns:a="http://schemas.openxmlformats.org/drawingml/2006/main">
              <a:ext uri="{FF2B5EF4-FFF2-40B4-BE49-F238E27FC236}">
                <a16:creationId xmlns:a16="http://schemas.microsoft.com/office/drawing/2014/main" id="{DDC44956-3D8C-44DD-937F-1FC6B474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530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2E8"/>
                </a:solidFill>
              </a:defRPr>
            </a:pPr>
            <a:r>
              <a:rPr sz="2550" b="1">
                <a:solidFill>
                  <a:srgbClr val="F7F2E8"/>
                </a:solidFill>
              </a:rPr>
              <a:t>Earth</a:t>
            </a:r>
          </a:p>
        </p:txBody>
      </p:sp>
      <p:sp>
        <p:nvSpPr>
          <p:cNvPr id="17" name="inner-au-Earth">
            <a:extLst xmlns:a="http://schemas.openxmlformats.org/drawingml/2006/main">
              <a:ext uri="{FF2B5EF4-FFF2-40B4-BE49-F238E27FC236}">
                <a16:creationId xmlns:a16="http://schemas.microsoft.com/office/drawing/2014/main" id="{7293EF57-1AE5-4AED-9F15-B82C486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29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B24A"/>
                </a:solidFill>
              </a:defRPr>
            </a:pPr>
            <a:r>
              <a:rPr sz="1650" b="1">
                <a:solidFill>
                  <a:srgbClr val="F6B24A"/>
                </a:solidFill>
              </a:rPr>
              <a:t>1.00 AU</a:t>
            </a:r>
          </a:p>
        </p:txBody>
      </p:sp>
      <p:sp>
        <p:nvSpPr>
          <p:cNvPr id="18" name="inner-desc-Earth">
            <a:extLst xmlns:a="http://schemas.openxmlformats.org/drawingml/2006/main">
              <a:ext uri="{FF2B5EF4-FFF2-40B4-BE49-F238E27FC236}">
                <a16:creationId xmlns:a16="http://schemas.microsoft.com/office/drawing/2014/main" id="{F67CD568-9DF1-4409-8A25-999B56C7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09600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Liquid water and a protective magnetosphere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2DAFA-231E-482D-B06B-DF6732B1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57500"/>
            <a:ext cx="14288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80A90-7DAE-472F-AE95-CAF7406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581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45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21" name="inner-Mars">
            <a:extLst xmlns:a="http://schemas.openxmlformats.org/drawingml/2006/main">
              <a:ext uri="{FF2B5EF4-FFF2-40B4-BE49-F238E27FC236}">
                <a16:creationId xmlns:a16="http://schemas.microsoft.com/office/drawing/2014/main" id="{2ECFAD70-7029-404C-A8B7-39EECA1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9530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2E8"/>
                </a:solidFill>
              </a:defRPr>
            </a:pPr>
            <a:r>
              <a:rPr sz="2550" b="1">
                <a:solidFill>
                  <a:srgbClr val="F7F2E8"/>
                </a:solidFill>
              </a:rPr>
              <a:t>Mars</a:t>
            </a:r>
          </a:p>
        </p:txBody>
      </p:sp>
      <p:sp>
        <p:nvSpPr>
          <p:cNvPr id="22" name="inner-au-Mars">
            <a:extLst xmlns:a="http://schemas.openxmlformats.org/drawingml/2006/main">
              <a:ext uri="{FF2B5EF4-FFF2-40B4-BE49-F238E27FC236}">
                <a16:creationId xmlns:a16="http://schemas.microsoft.com/office/drawing/2014/main" id="{F3C378A7-1C6B-49B5-8521-2ABE50E7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429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B24A"/>
                </a:solidFill>
              </a:defRPr>
            </a:pPr>
            <a:r>
              <a:rPr sz="1650" b="1">
                <a:solidFill>
                  <a:srgbClr val="F6B24A"/>
                </a:solidFill>
              </a:rPr>
              <a:t>1.52 AU</a:t>
            </a:r>
          </a:p>
        </p:txBody>
      </p:sp>
      <p:sp>
        <p:nvSpPr>
          <p:cNvPr id="23" name="inner-desc-Mars">
            <a:extLst xmlns:a="http://schemas.openxmlformats.org/drawingml/2006/main">
              <a:ext uri="{FF2B5EF4-FFF2-40B4-BE49-F238E27FC236}">
                <a16:creationId xmlns:a16="http://schemas.microsoft.com/office/drawing/2014/main" id="{DD493133-A4FE-48F8-B13F-8A5FD7DD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09600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Cold desert world with ancient river clues</a:t>
            </a:r>
          </a:p>
        </p:txBody>
      </p:sp>
      <p:sp>
        <p:nvSpPr>
          <p:cNvPr id="24" name="au-note">
            <a:extLst xmlns:a="http://schemas.openxmlformats.org/drawingml/2006/main">
              <a:ext uri="{FF2B5EF4-FFF2-40B4-BE49-F238E27FC236}">
                <a16:creationId xmlns:a16="http://schemas.microsoft.com/office/drawing/2014/main" id="{41F62F2B-D6AA-4627-BAC2-752C0B9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7058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08C"/>
                </a:solidFill>
              </a:defRPr>
            </a:pPr>
            <a:r>
              <a:rPr sz="1350">
                <a:solidFill>
                  <a:srgbClr val="65708C"/>
                </a:solidFill>
              </a:rPr>
              <a:t>AU = average Earth-Sun distance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F2F13F05-56CA-4791-8E20-EF076EA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C"/>
                </a:solidFill>
              </a:defRPr>
            </a:pPr>
            <a:r>
              <a:rPr sz="1050">
                <a:solidFill>
                  <a:srgbClr val="65708C"/>
                </a:solidFill>
              </a:rPr>
              <a:t>Solar 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10785039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10978-4ABA-4730-B0B5-4BB6C77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5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81C71-80BF-4D83-BBFE-1CD861BA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476" y="457988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C4206-AF84-4918-AD65-1C9E4DC5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70" y="904482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3D7D5-A7A1-4E21-91D5-0BC2308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944" y="122025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9412A-DD09-4A91-8A5A-CB79818C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835" y="311439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057DC-319B-4A8A-874C-EAEA023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600" y="2747387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DD517-B6F4-4A77-80DE-33D144C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438" y="774682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E5C0C-AD71-47F7-8232-575E2CBA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81" y="741503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AF510-7CD7-4548-8C54-4550C920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611" y="287748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A2F1B-7E0C-443B-884D-DAC4589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948" y="31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8F240-AA00-43EE-AB01-667F90F0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757" y="660172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7913C-975F-42C7-88ED-CFE22BF6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532" y="518105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5295D-B613-4217-B82D-FDF626C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196" y="13202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97D91-3E98-4432-B5FB-792E7D2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79" y="221902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5A06F-F75E-4A56-BB37-86A4A840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2510" y="255951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1CE20-2EA4-416F-A09D-7C6AFF4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092" y="35136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2834A-2483-4B3C-A40C-AFF6E47F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885" y="738405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2137D-B0F6-454B-8DE2-0D6DA7DC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776" y="634887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E72ED-CAB4-4B26-B332-74EE60D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6455" y="712665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732D1-445D-47DC-B992-AB7D51B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80" y="833276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684E5-E743-4DAF-B7C3-3FF9458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46" y="315436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B4D5B-A981-4534-BF8E-7CA3B70D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43" y="6495038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DC058-B0D3-4677-8180-E55C136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520" y="71758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1A7D7-8F93-4EC3-8595-DB163C2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336" y="8457243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5EC87-3E03-4BFB-B6B5-3176C52C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119" y="9773863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6B6A1-E9DD-4630-B78A-9DB38A0B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107" y="984174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3360A-E060-49D6-A7D3-09E01862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806" y="16308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1B299-A36F-494F-9A22-9C1B006E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822" y="1203382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9126A5-AA0E-4211-8F75-61AA94A3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13" y="658709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492C2-A762-4F9C-9CEC-10AA71F4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915" y="132156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B33E1A-DDA7-4EDF-B7C4-2AADE35D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584" y="277479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C62E4-D0D8-464B-BC4E-75A7B00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623" y="369582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72B23-97F1-41B8-BCB2-9848457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114" y="774764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60DAB-CE9D-47DA-80E6-B3252611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837" y="8368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F4D385-734B-4DC9-981B-2703567C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299" y="241859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41AF3-ABBA-40DD-9549-AF5604E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943" y="405672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B5ACEF-AD7E-474D-A0ED-ECA2A57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275" y="628253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34EDC3-305A-4635-BA95-C7965184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3665" y="7324081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BA37D2-15FA-44A4-A2FB-76F25DFE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566" y="558805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A46F7F-E1E8-4207-8D58-2CB00120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10" y="834013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1A4E94-709D-4328-86C0-EDB6749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424" y="45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929F84-57A1-457D-8CA3-EFCB321B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6613" y="4540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BCAD6-65BC-48DA-B6C8-3E168A28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174" y="632988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B9AA45-EFA6-4949-A1ED-D736CC1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9575" y="517048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E9EECB-814B-480A-9776-EDDF2874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559" y="982658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4AD93-6F05-46BB-960A-761ED5D4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316" y="799843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4C1623-9F40-40C1-960E-F45D48A4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1082" y="231736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BB4E44-A719-4CAE-BBE7-45205D2D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9" y="239002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B0078C-1E2C-4F5C-95D8-BE8C403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51" y="9057149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6FC6BA-0E6E-4929-8EEE-E189945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831" y="902962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EA03DB-BF07-433B-B4F4-3D2C1A7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22" y="63676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BD0B78-5815-4BC0-A1A5-CB77C8E3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04" y="198422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6EB3B6-42B6-44D4-B07D-037E268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43" y="567776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751398-A321-4839-BFB9-E5CBE4E5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38" y="114583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0BCAE2-EE95-4470-9711-56D0E22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497" y="299981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0F0F98-9668-4451-B56D-ABD4259F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4077" y="586824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921A6B-223C-413B-91C9-83330A5A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9948" y="474041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F608DF-F4A8-4B9F-A2F3-CC5AE92B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11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2E8"/>
                </a:solidFill>
              </a:defRPr>
            </a:pPr>
            <a:r>
              <a:rPr sz="4650" b="1">
                <a:solidFill>
                  <a:srgbClr val="F7F2E8"/>
                </a:solidFill>
              </a:rPr>
              <a:t>The asteroid belt is not a wall</a:t>
            </a:r>
          </a:p>
        </p:txBody>
      </p:sp>
      <p:sp>
        <p:nvSpPr>
          <p:cNvPr id="5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970C32-EA88-4EF8-82DD-CF6F1A4F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9810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8C1D9"/>
                </a:solidFill>
              </a:defRPr>
            </a:pPr>
            <a:r>
              <a:rPr sz="1950">
                <a:solidFill>
                  <a:srgbClr val="B8C1D9"/>
                </a:solidFill>
              </a:rPr>
              <a:t>Between Mars and Jupiter is a wide region of leftover building blocks, with plenty of empty space.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8BE7AD-9990-435A-B63B-67D0F102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24A"/>
          </a:solidFill>
          <a:ln xmlns:a="http://schemas.openxmlformats.org/drawingml/2006/main" w="19050">
            <a:solidFill>
              <a:srgbClr val="FFD27A"/>
            </a:solidFill>
          </a:ln>
        </p:spPr>
      </p:sp>
      <p:sp>
        <p:nvSpPr>
          <p:cNvPr id="61" name="belt-sun-label">
            <a:extLst xmlns:a="http://schemas.openxmlformats.org/drawingml/2006/main">
              <a:ext uri="{FF2B5EF4-FFF2-40B4-BE49-F238E27FC236}">
                <a16:creationId xmlns:a16="http://schemas.microsoft.com/office/drawing/2014/main" id="{7B7D9445-C4E5-402A-BEDB-6F789BE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B24A"/>
                </a:solidFill>
              </a:defRPr>
            </a:pPr>
            <a:r>
              <a:rPr sz="1500" b="1">
                <a:solidFill>
                  <a:srgbClr val="F6B24A"/>
                </a:solidFill>
              </a:rPr>
              <a:t>Sun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479C92-34F1-409F-B69C-8CB86D70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006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1BF800-FDD1-485B-B3F0-162D2F4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19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45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</a:ln>
        </p:spPr>
      </p:sp>
      <p:sp>
        <p:nvSpPr>
          <p:cNvPr id="64" name="label-Mars">
            <a:extLst xmlns:a="http://schemas.openxmlformats.org/drawingml/2006/main">
              <a:ext uri="{FF2B5EF4-FFF2-40B4-BE49-F238E27FC236}">
                <a16:creationId xmlns:a16="http://schemas.microsoft.com/office/drawing/2014/main" id="{124B179C-9950-446F-BCD0-1792D016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Mars</a:t>
            </a:r>
          </a:p>
        </p:txBody>
      </p:sp>
      <p:sp>
        <p:nvSpPr>
          <p:cNvPr id="65" name="sublabel-Mars">
            <a:extLst xmlns:a="http://schemas.openxmlformats.org/drawingml/2006/main">
              <a:ext uri="{FF2B5EF4-FFF2-40B4-BE49-F238E27FC236}">
                <a16:creationId xmlns:a16="http://schemas.microsoft.com/office/drawing/2014/main" id="{607758E0-0083-45B7-A9FC-20A8003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1.5 AU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0E2DEC-65DA-4B67-A198-4729526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6958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6C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</a:ln>
        </p:spPr>
      </p:sp>
      <p:sp>
        <p:nvSpPr>
          <p:cNvPr id="67" name="label-Jupiter">
            <a:extLst xmlns:a="http://schemas.openxmlformats.org/drawingml/2006/main">
              <a:ext uri="{FF2B5EF4-FFF2-40B4-BE49-F238E27FC236}">
                <a16:creationId xmlns:a16="http://schemas.microsoft.com/office/drawing/2014/main" id="{0B051040-6E7E-4D4B-90F1-E2C79CC0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576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Jupiter</a:t>
            </a:r>
          </a:p>
        </p:txBody>
      </p:sp>
      <p:sp>
        <p:nvSpPr>
          <p:cNvPr id="68" name="sublabel-Jupiter">
            <a:extLst xmlns:a="http://schemas.openxmlformats.org/drawingml/2006/main">
              <a:ext uri="{FF2B5EF4-FFF2-40B4-BE49-F238E27FC236}">
                <a16:creationId xmlns:a16="http://schemas.microsoft.com/office/drawing/2014/main" id="{22D70D5A-807D-444D-AA4F-A7789F5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3243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5.2 AU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F00F79-245D-4055-ABFC-DD208F3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41" y="4934787"/>
            <a:ext cx="41092" cy="41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8280BF-D409-4C82-BEE4-E713A73D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613" y="5082030"/>
            <a:ext cx="45970" cy="45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9784F3-41DA-4929-9EB4-B58C5A4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463" y="4449080"/>
            <a:ext cx="85498" cy="85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E2BC7D-BF5A-4119-A3B2-AAA633F0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511" y="5936042"/>
            <a:ext cx="28595" cy="28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3E7699-EBBC-47F8-8F65-96AA810E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333" y="5859946"/>
            <a:ext cx="41845" cy="418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1542A1-D216-46C7-A5BE-7BC6C5C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510" y="5232434"/>
            <a:ext cx="81749" cy="81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BB2139-D18C-43E8-A505-21090C8B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977" y="5240905"/>
            <a:ext cx="62414" cy="62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96004D-DA6B-4B3D-A9D0-A4F4128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740" y="4455154"/>
            <a:ext cx="60095" cy="60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0F4547-8E51-4421-AB7F-6FCDD70E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697" y="4603625"/>
            <a:ext cx="35370" cy="353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0A9BDCC-2190-4CEE-BF82-9DEA1B1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75" y="5729154"/>
            <a:ext cx="58587" cy="585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EC4E41-C977-48EE-982A-6FFC392E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873" y="4769171"/>
            <a:ext cx="51663" cy="51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BD9F579-6F43-45E1-9CB5-605CE576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399" y="4719318"/>
            <a:ext cx="49988" cy="499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B6D03A-551E-488D-959D-FAA0E2A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712" y="5483189"/>
            <a:ext cx="94091" cy="94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4A16E1-F9FD-42B4-A4E2-B13560C1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90" y="6057456"/>
            <a:ext cx="45058" cy="450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1236967-5482-4831-A8FF-1C9BE804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06" y="5820145"/>
            <a:ext cx="41912" cy="41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6EA2414-CEE6-4A8D-8D40-28210E5E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947" y="5633738"/>
            <a:ext cx="55457" cy="554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58EE01-C5F7-4A38-882A-ADAE9F6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845" y="4446542"/>
            <a:ext cx="43943" cy="43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9081B92-5B59-4BAD-90F7-4BA7510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64" y="4699456"/>
            <a:ext cx="79294" cy="79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D35CF2B-06F4-4334-8276-E1E40E70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501" y="5844466"/>
            <a:ext cx="34947" cy="34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DF041E-D794-43E9-BD54-4C8B777C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233" y="5078163"/>
            <a:ext cx="64882" cy="64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92DCBF-27DB-467D-9F7D-6951A07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857" y="5907777"/>
            <a:ext cx="93598" cy="93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A18B6B-7F9D-48CC-9922-32C25F2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187" y="6113885"/>
            <a:ext cx="65184" cy="65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DDB558E-E532-4262-B79E-A122529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733" y="6165969"/>
            <a:ext cx="51717" cy="51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0BDDEF-9971-49C5-8323-19851B00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445" y="4972498"/>
            <a:ext cx="68171" cy="681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CCE7B4B-B460-4B4F-8A0B-AEC1B4A8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923" y="5913874"/>
            <a:ext cx="77400" cy="7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71E40F-B661-4CDE-ABFA-12C7B47E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41" y="4903167"/>
            <a:ext cx="39185" cy="39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9F584A-5042-4256-8F87-404ED18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342" y="6102106"/>
            <a:ext cx="65129" cy="651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5EC5E1-332B-4BEA-AFE6-E675C1E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354" y="6113124"/>
            <a:ext cx="85398" cy="853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07D3F1-8E0D-41B9-AF22-DA9CFBA4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42" y="4787526"/>
            <a:ext cx="32602" cy="32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B4D8C8-E4EF-4FCA-BC77-14B6F441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559" y="4676694"/>
            <a:ext cx="91561" cy="915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51613D-FC63-4057-9E7F-6FE80DC2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21" y="5808197"/>
            <a:ext cx="94869" cy="94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E6331F-950C-4FC9-AE19-EF31F22D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908" y="6120491"/>
            <a:ext cx="73064" cy="73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A8A2CE0-DE43-48DA-84B1-17AF2D36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242" y="5717051"/>
            <a:ext cx="63957" cy="63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BC88AC7-A16C-4E08-85B8-615E0076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244" y="5012332"/>
            <a:ext cx="49046" cy="49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D363926-44EB-405E-A79C-2CAA16F5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489" y="5867892"/>
            <a:ext cx="50210" cy="502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25E7E60-C7EE-471A-BA07-2F669B0A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575" y="6016332"/>
            <a:ext cx="74564" cy="74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5D46F9-CD73-4B70-8161-727B0A3D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898" y="4750850"/>
            <a:ext cx="50721" cy="50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4C93560-EBC1-42FE-9B58-756F41A1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543" y="5213072"/>
            <a:ext cx="40358" cy="403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5656CA-593D-4111-A465-52E0AC9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528" y="5557753"/>
            <a:ext cx="79085" cy="79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BAB32C-55C8-4894-9C32-B31D1D1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350" y="4919075"/>
            <a:ext cx="55785" cy="55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3602218-F789-4419-BD6B-C928469A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898" y="5579111"/>
            <a:ext cx="51827" cy="518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958C1D6-AA17-4796-9793-770EA82D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094" y="5607339"/>
            <a:ext cx="68818" cy="68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1C41D32-EDFC-4E88-8351-FCE517B4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427" y="4611052"/>
            <a:ext cx="53546" cy="535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1849CE-B712-4B7F-BEA8-DC57F974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83" y="5850747"/>
            <a:ext cx="85818" cy="85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A59D03-F38F-42FA-9841-538E785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05" y="5310758"/>
            <a:ext cx="39307" cy="39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3A948AB-9855-463C-A66A-AFD03579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4" y="4551089"/>
            <a:ext cx="30874" cy="30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6C25F12-C6D7-4EA4-8489-D39F2E8E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411" y="4392045"/>
            <a:ext cx="58985" cy="58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B7903FF-4557-4CB7-92B4-E73F372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684" y="6008536"/>
            <a:ext cx="48086" cy="480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792A14-E9DD-47C1-A32F-32E3E92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954" y="4369107"/>
            <a:ext cx="78306" cy="783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A6B5967-AD4B-4E0F-B3CB-AEE3C6A1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486" y="5293741"/>
            <a:ext cx="84220" cy="842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45DC85D-7B6A-4FFA-85E2-2D1A783A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978" y="6121948"/>
            <a:ext cx="65212" cy="65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E4858EF-07B7-4C45-BA87-AE79D6D5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491" y="4978591"/>
            <a:ext cx="66089" cy="660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FF7B3C6-66E6-4827-B989-7F4384BD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26" y="5242000"/>
            <a:ext cx="83287" cy="832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241C9BA-7200-4E5A-8556-35AE50E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539" y="4587704"/>
            <a:ext cx="94943" cy="94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FD49730-AA3C-4211-8C5B-B87C92F4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521" y="6085799"/>
            <a:ext cx="37658" cy="376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F45228-F1EF-4A18-840A-0DC2CB08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912" y="4915313"/>
            <a:ext cx="80423" cy="80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D4CA0D-DBD3-49A2-BEB4-7D46175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332" y="5286340"/>
            <a:ext cx="70533" cy="70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186EC93-6B28-42AB-8783-85769729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62" y="4529088"/>
            <a:ext cx="74575" cy="74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9D58BF-D524-4CFB-B7CE-C3D15EED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213" y="5194203"/>
            <a:ext cx="82337" cy="82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8BC4D0A-B611-4E62-B58B-C75B8A4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638" y="5509677"/>
            <a:ext cx="95043" cy="950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61A614C-5533-41D3-9D7D-413E4FE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090" y="5047261"/>
            <a:ext cx="70342" cy="70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B6CBBE1-9C3C-4489-9028-678A4915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125" y="5686412"/>
            <a:ext cx="51338" cy="51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CDE761-8ADF-4229-A8A9-A624CF2E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772" y="5324450"/>
            <a:ext cx="85001" cy="850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2F262E1-6DDA-4453-B9F9-B2CEF977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863" y="4861044"/>
            <a:ext cx="29771" cy="297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4639196-9656-48FF-8C1E-15DE54C6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518" y="6183987"/>
            <a:ext cx="85144" cy="85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D752118-264D-45E6-AAF3-5357F33B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501" y="6174690"/>
            <a:ext cx="51967" cy="519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82F188C-E2FE-4866-9073-5D6B246E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66" y="5173847"/>
            <a:ext cx="68668" cy="68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B8F3AA8-FC82-489C-80C0-C357A3CC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491" y="5029622"/>
            <a:ext cx="85514" cy="855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0BA2B7D-6E04-4E8B-9B6B-F2D26A73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887" y="5941016"/>
            <a:ext cx="54297" cy="542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A08F05B-DADE-4ABC-84BE-727D4985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513" y="4933967"/>
            <a:ext cx="43936" cy="43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5282E8-45AD-42D7-AB73-578AAD88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801" y="4806128"/>
            <a:ext cx="76352" cy="76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12C640C-1C43-4001-8422-80F11770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750" y="5294165"/>
            <a:ext cx="72357" cy="72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C752605-1D03-4676-A9E1-EC57ADF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752" y="6007065"/>
            <a:ext cx="44900" cy="4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D0D9DFA-631B-4816-8B91-38F204E8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924" y="5500856"/>
            <a:ext cx="49582" cy="49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23DD2CE-D632-4AF1-80A5-CE71DD1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815" y="5470486"/>
            <a:ext cx="65786" cy="657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2AD8579-6996-4C94-B80C-00AA27AF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393" y="5845771"/>
            <a:ext cx="47920" cy="47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C607E60-4C60-4C28-AC5E-BBB2094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3567" y="6023013"/>
            <a:ext cx="69631" cy="69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8D9C551-5559-4857-AA75-42BF4F85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7258" y="4584590"/>
            <a:ext cx="57083" cy="57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C9D5">
              <a:alpha val="66667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cb1e48d6d47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3714750"/>
            <a:ext cx="1047750" cy="1047750"/>
          </a:xfrm>
          <a:prstGeom xmlns:a="http://schemas.openxmlformats.org/drawingml/2006/main" prst="ellipse">
            <a:avLst/>
          </a:prstGeom>
        </p:spPr>
      </p:pic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5807A5E-D1B4-47BD-A186-8F6BFE3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2D7"/>
          </a:solidFill>
        </p:spPr>
      </p:sp>
      <p:sp>
        <p:nvSpPr>
          <p:cNvPr id="149" name="callout-title-Ceres is the largest object">
            <a:extLst xmlns:a="http://schemas.openxmlformats.org/drawingml/2006/main">
              <a:ext uri="{FF2B5EF4-FFF2-40B4-BE49-F238E27FC236}">
                <a16:creationId xmlns:a16="http://schemas.microsoft.com/office/drawing/2014/main" id="{F18BE556-2A5B-410A-8F3E-7CD11FF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5438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Ceres is the largest object</a:t>
            </a:r>
          </a:p>
        </p:txBody>
      </p:sp>
      <p:sp>
        <p:nvSpPr>
          <p:cNvPr id="150" name="callout-body-Ceres is the largest object">
            <a:extLst xmlns:a="http://schemas.openxmlformats.org/drawingml/2006/main">
              <a:ext uri="{FF2B5EF4-FFF2-40B4-BE49-F238E27FC236}">
                <a16:creationId xmlns:a16="http://schemas.microsoft.com/office/drawing/2014/main" id="{0F7FB98E-4C7E-4C53-B94F-D76A2468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92480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It is massive enough to be rounded by gravity, so it is classified as a dwarf planet.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7B71F01-30EE-44D4-AE3F-F92C4714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4A"/>
          </a:solidFill>
        </p:spPr>
      </p:sp>
      <p:sp>
        <p:nvSpPr>
          <p:cNvPr id="152" name="callout-title-Jupiter acts like a sculptor">
            <a:extLst xmlns:a="http://schemas.openxmlformats.org/drawingml/2006/main">
              <a:ext uri="{FF2B5EF4-FFF2-40B4-BE49-F238E27FC236}">
                <a16:creationId xmlns:a16="http://schemas.microsoft.com/office/drawing/2014/main" id="{CA0ADF9E-2F00-4ED2-8A13-010E69F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543800"/>
            <a:ext cx="657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Jupiter acts like a sculptor</a:t>
            </a:r>
          </a:p>
        </p:txBody>
      </p:sp>
      <p:sp>
        <p:nvSpPr>
          <p:cNvPr id="153" name="callout-body-Jupiter acts like a sculptor">
            <a:extLst xmlns:a="http://schemas.openxmlformats.org/drawingml/2006/main">
              <a:ext uri="{FF2B5EF4-FFF2-40B4-BE49-F238E27FC236}">
                <a16:creationId xmlns:a16="http://schemas.microsoft.com/office/drawing/2014/main" id="{A27F9EA0-B20D-4400-80C6-4198959F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924800"/>
            <a:ext cx="657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Its gravity stirred the region and helped prevent a full planet from forming there.</a:t>
            </a:r>
          </a:p>
        </p:txBody>
      </p:sp>
      <p:sp>
        <p:nvSpPr>
          <p:cNvPr id="154" name="source">
            <a:extLst xmlns:a="http://schemas.openxmlformats.org/drawingml/2006/main">
              <a:ext uri="{FF2B5EF4-FFF2-40B4-BE49-F238E27FC236}">
                <a16:creationId xmlns:a16="http://schemas.microsoft.com/office/drawing/2014/main" id="{F3A542F1-9224-4943-B34E-BC846846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C"/>
                </a:solidFill>
              </a:defRPr>
            </a:pPr>
            <a:r>
              <a:rPr sz="1050">
                <a:solidFill>
                  <a:srgbClr val="65708C"/>
                </a:solidFill>
              </a:rPr>
              <a:t>Solar 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4742111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722A4-4B05-40DC-BA75-EDCC49A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13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0AC88A-42C1-4F50-9A2A-6A46C9E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11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2E8"/>
                </a:solidFill>
              </a:defRPr>
            </a:pPr>
            <a:r>
              <a:rPr sz="4650" b="1">
                <a:solidFill>
                  <a:srgbClr val="F7F2E8"/>
                </a:solidFill>
              </a:rPr>
              <a:t>The giant planets are mini systems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9610545-9137-4B28-A2F3-C73AC4A9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9944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8C1D9"/>
                </a:solidFill>
              </a:defRPr>
            </a:pPr>
            <a:r>
              <a:rPr sz="1950">
                <a:solidFill>
                  <a:srgbClr val="B8C1D9"/>
                </a:solidFill>
              </a:rPr>
              <a:t>Jupiter, Saturn, Uranus, and Neptune are planet-scale environments with moons, rings, storms, and magnetic fields.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b522dc49e4d6f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1100" y="2857500"/>
            <a:ext cx="4476750" cy="4476750"/>
          </a:xfrm>
          <a:prstGeom xmlns:a="http://schemas.openxmlformats.org/drawingml/2006/main" prst="ellipse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61b01ca35448f"/>
          <a:srcRect xmlns:a="http://schemas.openxmlformats.org/drawingml/2006/main" l="0" t="18269" r="0" b="18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3067050"/>
            <a:ext cx="4953000" cy="31432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1C4FF-486C-4066-996B-A3634A23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75285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7D3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</a:ln>
        </p:spPr>
      </p:sp>
      <p:sp>
        <p:nvSpPr>
          <p:cNvPr id="7" name="label-Uranus">
            <a:extLst xmlns:a="http://schemas.openxmlformats.org/drawingml/2006/main">
              <a:ext uri="{FF2B5EF4-FFF2-40B4-BE49-F238E27FC236}">
                <a16:creationId xmlns:a16="http://schemas.microsoft.com/office/drawing/2014/main" id="{E1009D5F-DA93-48BE-A2FF-95F9091C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2578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Uranus</a:t>
            </a:r>
          </a:p>
        </p:txBody>
      </p:sp>
      <p:sp>
        <p:nvSpPr>
          <p:cNvPr id="8" name="sublabel-Uranus">
            <a:extLst xmlns:a="http://schemas.openxmlformats.org/drawingml/2006/main">
              <a:ext uri="{FF2B5EF4-FFF2-40B4-BE49-F238E27FC236}">
                <a16:creationId xmlns:a16="http://schemas.microsoft.com/office/drawing/2014/main" id="{A62C89A0-F509-470F-B96A-129C64FF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5245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ice giant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F8633-83F8-4B46-BC67-B87611F9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9243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CFF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</a:ln>
        </p:spPr>
      </p:sp>
      <p:sp>
        <p:nvSpPr>
          <p:cNvPr id="10" name="label-Neptune">
            <a:extLst xmlns:a="http://schemas.openxmlformats.org/drawingml/2006/main">
              <a:ext uri="{FF2B5EF4-FFF2-40B4-BE49-F238E27FC236}">
                <a16:creationId xmlns:a16="http://schemas.microsoft.com/office/drawing/2014/main" id="{EFB8D9D3-41D8-4D75-B538-97617BDA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3530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Neptune</a:t>
            </a:r>
          </a:p>
        </p:txBody>
      </p:sp>
      <p:sp>
        <p:nvSpPr>
          <p:cNvPr id="11" name="sublabel-Neptune">
            <a:extLst xmlns:a="http://schemas.openxmlformats.org/drawingml/2006/main">
              <a:ext uri="{FF2B5EF4-FFF2-40B4-BE49-F238E27FC236}">
                <a16:creationId xmlns:a16="http://schemas.microsoft.com/office/drawing/2014/main" id="{2F4FCCE5-D5B0-4790-93CC-560EBD27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6197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fast winds</a:t>
            </a:r>
          </a:p>
        </p:txBody>
      </p:sp>
      <p:sp>
        <p:nvSpPr>
          <p:cNvPr id="12" name="jupiter-label">
            <a:extLst xmlns:a="http://schemas.openxmlformats.org/drawingml/2006/main">
              <a:ext uri="{FF2B5EF4-FFF2-40B4-BE49-F238E27FC236}">
                <a16:creationId xmlns:a16="http://schemas.microsoft.com/office/drawing/2014/main" id="{B0A321DF-589C-404E-AC84-E046675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54380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2E8"/>
                </a:solidFill>
              </a:defRPr>
            </a:pPr>
            <a:r>
              <a:rPr sz="2700" b="1">
                <a:solidFill>
                  <a:srgbClr val="F7F2E8"/>
                </a:solidFill>
              </a:rPr>
              <a:t>Jupiter</a:t>
            </a:r>
          </a:p>
        </p:txBody>
      </p:sp>
      <p:sp>
        <p:nvSpPr>
          <p:cNvPr id="13" name="jupiter-caption">
            <a:extLst xmlns:a="http://schemas.openxmlformats.org/drawingml/2006/main">
              <a:ext uri="{FF2B5EF4-FFF2-40B4-BE49-F238E27FC236}">
                <a16:creationId xmlns:a16="http://schemas.microsoft.com/office/drawing/2014/main" id="{59D11EFA-A517-436E-87D0-65228AC7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0581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largest planet; strong bands and storms</a:t>
            </a:r>
          </a:p>
        </p:txBody>
      </p:sp>
      <p:sp>
        <p:nvSpPr>
          <p:cNvPr id="14" name="saturn-label">
            <a:extLst xmlns:a="http://schemas.openxmlformats.org/drawingml/2006/main">
              <a:ext uri="{FF2B5EF4-FFF2-40B4-BE49-F238E27FC236}">
                <a16:creationId xmlns:a16="http://schemas.microsoft.com/office/drawing/2014/main" id="{1F0831DF-0B35-48AF-9DC0-E342EE2C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5913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2E8"/>
                </a:solidFill>
              </a:defRPr>
            </a:pPr>
            <a:r>
              <a:rPr sz="2700" b="1">
                <a:solidFill>
                  <a:srgbClr val="F7F2E8"/>
                </a:solidFill>
              </a:rPr>
              <a:t>Saturn</a:t>
            </a:r>
          </a:p>
        </p:txBody>
      </p:sp>
      <p:sp>
        <p:nvSpPr>
          <p:cNvPr id="15" name="saturn-caption">
            <a:extLst xmlns:a="http://schemas.openxmlformats.org/drawingml/2006/main">
              <a:ext uri="{FF2B5EF4-FFF2-40B4-BE49-F238E27FC236}">
                <a16:creationId xmlns:a16="http://schemas.microsoft.com/office/drawing/2014/main" id="{5D645FC2-C1DD-41DE-856F-961811B9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1056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rings make the system visible from across 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9C0A6-BFF5-4AC8-92CF-0934956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934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B9FF"/>
          </a:solidFill>
        </p:spPr>
      </p:sp>
      <p:sp>
        <p:nvSpPr>
          <p:cNvPr id="17" name="callout-title-Two families">
            <a:extLst xmlns:a="http://schemas.openxmlformats.org/drawingml/2006/main">
              <a:ext uri="{FF2B5EF4-FFF2-40B4-BE49-F238E27FC236}">
                <a16:creationId xmlns:a16="http://schemas.microsoft.com/office/drawing/2014/main" id="{885FAD1D-6E51-4A6A-9313-FADAF95F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8582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Two families</a:t>
            </a:r>
          </a:p>
        </p:txBody>
      </p:sp>
      <p:sp>
        <p:nvSpPr>
          <p:cNvPr id="18" name="callout-body-Two families">
            <a:extLst xmlns:a="http://schemas.openxmlformats.org/drawingml/2006/main">
              <a:ext uri="{FF2B5EF4-FFF2-40B4-BE49-F238E27FC236}">
                <a16:creationId xmlns:a16="http://schemas.microsoft.com/office/drawing/2014/main" id="{2FC3F9B3-B8F9-4E12-B91A-1905F0C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23925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Jupiter and Saturn are gas giants; Uranus and Neptune are ice giants with more water, methane, and ammonia.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0CFA1D2-4618-45CF-883F-D0F3A8D5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C"/>
                </a:solidFill>
              </a:defRPr>
            </a:pPr>
            <a:r>
              <a:rPr sz="1050">
                <a:solidFill>
                  <a:srgbClr val="65708C"/>
                </a:solidFill>
              </a:rPr>
              <a:t>Solar 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13013320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96B0D-474E-467B-8E1A-4A674D14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5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7E90B-E101-4F27-986D-90610867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11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2E8"/>
                </a:solidFill>
              </a:defRPr>
            </a:pPr>
            <a:r>
              <a:rPr sz="4650" b="1">
                <a:solidFill>
                  <a:srgbClr val="F7F2E8"/>
                </a:solidFill>
              </a:rPr>
              <a:t>Scale breaks intuition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834DCF-F3EE-46CB-B6F1-0C34BDCC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0287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8C1D9"/>
                </a:solidFill>
              </a:defRPr>
            </a:pPr>
            <a:r>
              <a:rPr sz="1950">
                <a:solidFill>
                  <a:srgbClr val="B8C1D9"/>
                </a:solidFill>
              </a:rPr>
              <a:t>Planet order is easy. Planet spacing is the surprise: the outer planets live far beyond the crowded inner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C276E-23F6-4FA2-8063-A41815C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76900"/>
            <a:ext cx="14516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08"/>
            </a:srgbClr>
          </a:solidFill>
        </p:spPr>
      </p:sp>
      <p:sp>
        <p:nvSpPr>
          <p:cNvPr id="5" name="scale-note">
            <a:extLst xmlns:a="http://schemas.openxmlformats.org/drawingml/2006/main">
              <a:ext uri="{FF2B5EF4-FFF2-40B4-BE49-F238E27FC236}">
                <a16:creationId xmlns:a16="http://schemas.microsoft.com/office/drawing/2014/main" id="{B6E5BB35-FDED-40AA-9303-801EE27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339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1D9"/>
                </a:solidFill>
              </a:defRPr>
            </a:pPr>
            <a:r>
              <a:rPr sz="1650">
                <a:solidFill>
                  <a:srgbClr val="B8C1D9"/>
                </a:solidFill>
              </a:rPr>
              <a:t>log scale of average distance from the Sun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4FAD4-E126-4B96-8FDD-7A1C480A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23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422A0-97DF-4E91-A116-3F0DFF5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473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A79A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8" name="scale-Mercury">
            <a:extLst xmlns:a="http://schemas.openxmlformats.org/drawingml/2006/main">
              <a:ext uri="{FF2B5EF4-FFF2-40B4-BE49-F238E27FC236}">
                <a16:creationId xmlns:a16="http://schemas.microsoft.com/office/drawing/2014/main" id="{CA8E97F8-DED4-45DA-934E-08E1B30F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91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Mercury</a:t>
            </a:r>
          </a:p>
        </p:txBody>
      </p:sp>
      <p:sp>
        <p:nvSpPr>
          <p:cNvPr id="9" name="scale-au-Mercury">
            <a:extLst xmlns:a="http://schemas.openxmlformats.org/drawingml/2006/main">
              <a:ext uri="{FF2B5EF4-FFF2-40B4-BE49-F238E27FC236}">
                <a16:creationId xmlns:a16="http://schemas.microsoft.com/office/drawing/2014/main" id="{67A43D87-C7B3-436E-B1CA-82AC0EB0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579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0.39 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C0FF2-B6F7-4A7A-9F61-A853355E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961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CFE64-5277-4AE6-BE73-1CDA4F0A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411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066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12" name="scale-Venus">
            <a:extLst xmlns:a="http://schemas.openxmlformats.org/drawingml/2006/main">
              <a:ext uri="{FF2B5EF4-FFF2-40B4-BE49-F238E27FC236}">
                <a16:creationId xmlns:a16="http://schemas.microsoft.com/office/drawing/2014/main" id="{6183043B-BD56-4FEA-9D23-5600D9A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91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Venus</a:t>
            </a:r>
          </a:p>
        </p:txBody>
      </p:sp>
      <p:sp>
        <p:nvSpPr>
          <p:cNvPr id="13" name="scale-au-Venus">
            <a:extLst xmlns:a="http://schemas.openxmlformats.org/drawingml/2006/main">
              <a:ext uri="{FF2B5EF4-FFF2-40B4-BE49-F238E27FC236}">
                <a16:creationId xmlns:a16="http://schemas.microsoft.com/office/drawing/2014/main" id="{CA9B831B-EDAD-4236-BE57-5234C22D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579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0.72 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19B70-BDA3-45F4-A77C-2CE35FDD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998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66656-3CA1-4378-A3BA-CE4F88B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448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9FF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16" name="scale-Earth">
            <a:extLst xmlns:a="http://schemas.openxmlformats.org/drawingml/2006/main">
              <a:ext uri="{FF2B5EF4-FFF2-40B4-BE49-F238E27FC236}">
                <a16:creationId xmlns:a16="http://schemas.microsoft.com/office/drawing/2014/main" id="{69FC453C-1997-4247-92C2-843A2BD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Earth</a:t>
            </a:r>
          </a:p>
        </p:txBody>
      </p:sp>
      <p:sp>
        <p:nvSpPr>
          <p:cNvPr id="17" name="scale-au-Earth">
            <a:extLst xmlns:a="http://schemas.openxmlformats.org/drawingml/2006/main">
              <a:ext uri="{FF2B5EF4-FFF2-40B4-BE49-F238E27FC236}">
                <a16:creationId xmlns:a16="http://schemas.microsoft.com/office/drawing/2014/main" id="{3AA5DAF3-CE8B-478A-9398-30D9489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579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1 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43DDF-581C-48A7-ADF8-71EECF97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020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3AAF4-E9BF-4F28-8167-734DC1B8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470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45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20" name="scale-Mars">
            <a:extLst xmlns:a="http://schemas.openxmlformats.org/drawingml/2006/main">
              <a:ext uri="{FF2B5EF4-FFF2-40B4-BE49-F238E27FC236}">
                <a16:creationId xmlns:a16="http://schemas.microsoft.com/office/drawing/2014/main" id="{CCA8CB0C-B501-4BC9-B97F-37C8232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191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Mars</a:t>
            </a:r>
          </a:p>
        </p:txBody>
      </p:sp>
      <p:sp>
        <p:nvSpPr>
          <p:cNvPr id="21" name="scale-au-Mars">
            <a:extLst xmlns:a="http://schemas.openxmlformats.org/drawingml/2006/main">
              <a:ext uri="{FF2B5EF4-FFF2-40B4-BE49-F238E27FC236}">
                <a16:creationId xmlns:a16="http://schemas.microsoft.com/office/drawing/2014/main" id="{A81C797C-0DE4-4B3B-A766-12283DD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4579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1.52 AU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299DE-55C0-4EE0-A4BE-3B0C0B45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918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9B13A-5265-471D-897B-549612FC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168" y="5391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6C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24" name="scale-Jupiter">
            <a:extLst xmlns:a="http://schemas.openxmlformats.org/drawingml/2006/main">
              <a:ext uri="{FF2B5EF4-FFF2-40B4-BE49-F238E27FC236}">
                <a16:creationId xmlns:a16="http://schemas.microsoft.com/office/drawing/2014/main" id="{562BA148-9AA6-42AC-B723-5F513EDD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577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Jupiter</a:t>
            </a:r>
          </a:p>
        </p:txBody>
      </p:sp>
      <p:sp>
        <p:nvSpPr>
          <p:cNvPr id="25" name="scale-au-Jupiter">
            <a:extLst xmlns:a="http://schemas.openxmlformats.org/drawingml/2006/main">
              <a:ext uri="{FF2B5EF4-FFF2-40B4-BE49-F238E27FC236}">
                <a16:creationId xmlns:a16="http://schemas.microsoft.com/office/drawing/2014/main" id="{CE581665-655E-4BB1-B975-22C07C2F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244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5.2 AU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FA71B-286F-420E-A868-5D4D2F0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152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937CF-0E21-4D8A-832B-B1F6200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402" y="5391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C279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28" name="scale-Saturn">
            <a:extLst xmlns:a="http://schemas.openxmlformats.org/drawingml/2006/main">
              <a:ext uri="{FF2B5EF4-FFF2-40B4-BE49-F238E27FC236}">
                <a16:creationId xmlns:a16="http://schemas.microsoft.com/office/drawing/2014/main" id="{08425C1A-7915-4E63-A42B-2465BD7A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4577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Saturn</a:t>
            </a:r>
          </a:p>
        </p:txBody>
      </p:sp>
      <p:sp>
        <p:nvSpPr>
          <p:cNvPr id="29" name="scale-au-Saturn">
            <a:extLst xmlns:a="http://schemas.openxmlformats.org/drawingml/2006/main">
              <a:ext uri="{FF2B5EF4-FFF2-40B4-BE49-F238E27FC236}">
                <a16:creationId xmlns:a16="http://schemas.microsoft.com/office/drawing/2014/main" id="{19B4A7A8-AE70-49BB-82C9-10846E01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7244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9.58 AU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73E14-8571-4316-B67E-D0E4AD03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5106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D10E36-5EA8-4DAD-B06F-0BE753C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5556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7D3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32" name="scale-Uranus">
            <a:extLst xmlns:a="http://schemas.openxmlformats.org/drawingml/2006/main">
              <a:ext uri="{FF2B5EF4-FFF2-40B4-BE49-F238E27FC236}">
                <a16:creationId xmlns:a16="http://schemas.microsoft.com/office/drawing/2014/main" id="{41FFE269-1E4F-4078-A7B5-DD19F5F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4577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Uranus</a:t>
            </a:r>
          </a:p>
        </p:txBody>
      </p:sp>
      <p:sp>
        <p:nvSpPr>
          <p:cNvPr id="33" name="scale-au-Uranus">
            <a:extLst xmlns:a="http://schemas.openxmlformats.org/drawingml/2006/main">
              <a:ext uri="{FF2B5EF4-FFF2-40B4-BE49-F238E27FC236}">
                <a16:creationId xmlns:a16="http://schemas.microsoft.com/office/drawing/2014/main" id="{D944E91A-E33A-422B-AA9F-95704D14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7244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19.2 AU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FC04F8-EBC4-40BC-9B05-C6F9803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0477" y="5276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F1C722-E54B-43A7-9445-B253AAF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0927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CFF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36" name="scale-Neptune">
            <a:extLst xmlns:a="http://schemas.openxmlformats.org/drawingml/2006/main">
              <a:ext uri="{FF2B5EF4-FFF2-40B4-BE49-F238E27FC236}">
                <a16:creationId xmlns:a16="http://schemas.microsoft.com/office/drawing/2014/main" id="{02744D24-0FC1-46EE-AA1C-06F10B3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4577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F2E8"/>
                </a:solidFill>
              </a:defRPr>
            </a:pPr>
            <a:r>
              <a:rPr sz="1425" b="1">
                <a:solidFill>
                  <a:srgbClr val="F7F2E8"/>
                </a:solidFill>
              </a:rPr>
              <a:t>Neptune</a:t>
            </a:r>
          </a:p>
        </p:txBody>
      </p:sp>
      <p:sp>
        <p:nvSpPr>
          <p:cNvPr id="37" name="scale-au-Neptune">
            <a:extLst xmlns:a="http://schemas.openxmlformats.org/drawingml/2006/main">
              <a:ext uri="{FF2B5EF4-FFF2-40B4-BE49-F238E27FC236}">
                <a16:creationId xmlns:a16="http://schemas.microsoft.com/office/drawing/2014/main" id="{425F1C22-78BB-4A6A-8E4E-C8DE2AF9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7244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1D9"/>
                </a:solidFill>
              </a:defRPr>
            </a:pPr>
            <a:r>
              <a:rPr sz="1125">
                <a:solidFill>
                  <a:srgbClr val="B8C1D9"/>
                </a:solidFill>
              </a:rPr>
              <a:t>30.1 AU</a:t>
            </a:r>
          </a:p>
        </p:txBody>
      </p:sp>
      <p:sp>
        <p:nvSpPr>
          <p:cNvPr id="38" name="scale-claim">
            <a:extLst xmlns:a="http://schemas.openxmlformats.org/drawingml/2006/main">
              <a:ext uri="{FF2B5EF4-FFF2-40B4-BE49-F238E27FC236}">
                <a16:creationId xmlns:a16="http://schemas.microsoft.com/office/drawing/2014/main" id="{D21FC4CC-7420-4476-B241-4A4F003F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90575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6B24A"/>
                </a:solidFill>
              </a:defRPr>
            </a:pPr>
            <a:r>
              <a:rPr sz="2475" b="1">
                <a:solidFill>
                  <a:srgbClr val="F6B24A"/>
                </a:solidFill>
              </a:rPr>
              <a:t>If Earth is 1 AU from the Sun, Neptune averages about 30 AU away.</a:t>
            </a:r>
          </a:p>
        </p:txBody>
      </p:sp>
      <p:sp>
        <p:nvSpPr>
          <p:cNvPr id="39" name="scale-source">
            <a:extLst xmlns:a="http://schemas.openxmlformats.org/drawingml/2006/main">
              <a:ext uri="{FF2B5EF4-FFF2-40B4-BE49-F238E27FC236}">
                <a16:creationId xmlns:a16="http://schemas.microsoft.com/office/drawing/2014/main" id="{F3DD9566-1509-4E7D-AF13-8113A5D4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883920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08C"/>
                </a:solidFill>
              </a:defRPr>
            </a:pPr>
            <a:r>
              <a:rPr sz="1200">
                <a:solidFill>
                  <a:srgbClr val="65708C"/>
                </a:solidFill>
              </a:rPr>
              <a:t>Average orbital distances rounded.</a:t>
            </a:r>
          </a:p>
        </p:txBody>
      </p:sp>
      <p:sp>
        <p:nvSpPr>
          <p:cNvPr id="40" name="source">
            <a:extLst xmlns:a="http://schemas.openxmlformats.org/drawingml/2006/main">
              <a:ext uri="{FF2B5EF4-FFF2-40B4-BE49-F238E27FC236}">
                <a16:creationId xmlns:a16="http://schemas.microsoft.com/office/drawing/2014/main" id="{D59A7F04-4B10-4779-99B0-FC437298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C"/>
                </a:solidFill>
              </a:defRPr>
            </a:pPr>
            <a:r>
              <a:rPr sz="1050">
                <a:solidFill>
                  <a:srgbClr val="65708C"/>
                </a:solidFill>
              </a:rPr>
              <a:t>Solar 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15789360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998B4-29AD-4DED-8AE6-3425E7B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A1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2B950-B787-4A4B-95D8-FAA9A396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815" y="914933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421EC-6777-41F3-9E13-71E7513E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633" y="898140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C8184-985D-4BFA-8372-55A91CE1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5759" y="346020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073B8-3A95-4707-9091-0F87AFC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494" y="921605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62C10-B207-4D52-BD99-A0C14ABB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697" y="934514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5DAA-AA63-4C1E-8973-8F3467A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024" y="631191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D686A-31D3-4C7F-B507-C8F0AC7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586" y="9522862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046D5-9052-488A-A4F4-BFF73E3A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3783" y="145240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35E6B-0C31-427A-A6E8-BA38C30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052" y="78198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DF993-C425-4335-AAA3-4E3424B2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296" y="4114412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8B5A4-BA12-43C7-B044-57709DE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30" y="187712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35BF4-5715-4C01-8068-B2A2560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897" y="94249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F6D24-59BC-4232-B930-BE80DD5A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611" y="548939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1CA13-E8CD-4E97-9FDA-4985140C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569" y="187796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C4C5F-9F30-4DBE-AA2E-ED0EEF7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384" y="798235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176C3-63C8-49F0-96EA-C9CA962F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92" y="598599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AA0CC-76D9-4E3C-B0AE-38D76CA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780" y="379641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D2532-4803-4191-8E11-3BB1AB2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85" y="898684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C64E7-F31F-45E8-8B26-052F35B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915" y="620362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95DD6-1CBB-4093-83A0-37070CB3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347" y="249392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ED04B-2D3F-46FD-B5B0-49826CDD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636" y="183998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6F4C0-C459-4F05-917B-F26514A6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707" y="935899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5B1C5-2208-43E1-AEB8-73448ED4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861" y="360711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9ED05-C427-47D6-B18D-AE4D423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361" y="316436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5BE92-A48A-454C-BB40-0AFB4EA4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928" y="649040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59909-7BBA-47EE-ACCF-360BFA3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921" y="8380427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83A73B-5915-4C7D-9E95-95517B99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4932" y="59859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4BAF0-1194-404F-AA9C-06D6FA2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4555" y="56978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2ED6E8-5699-42C1-84A3-AC2E894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075" y="27676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ACA9E-70C3-4FAE-B8EE-726B15D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9834" y="783067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326F3-030C-426D-B637-312B78DA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008" y="699681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97490-2BDB-4577-A9B9-F345C6F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572" y="199991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1888F4-43BF-4167-A7DB-34C49AD0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172" y="889535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66B75-E95C-40A2-97DA-5F1D699D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675" y="138223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9E2D9-6593-4894-909A-85D0F352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0144" y="667200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2D6DB9-0322-4C39-9CE7-7AEA1783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4979" y="438712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B22819-02C8-4CBA-8124-DA7B9FF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3982" y="412616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404069-36C8-48F9-95E8-A3A94D96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5096" y="961009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D37B1D-7F11-49E8-BC59-F515427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65" y="448024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2E8633-8FC6-4BD0-9D60-2776EE14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261" y="9294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DA324-953D-4443-BCA9-1E4E412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941" y="220225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C33131-4EC2-437F-BBA6-89675BE5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170" y="138471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F588CF-3643-4400-A520-1CF16B8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7668" y="118894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5A37D7-81E3-4C22-BA66-A52C9F27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828" y="326841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CF298F-5DF8-4579-905D-41E63098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7158" y="787425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9948F8-89C8-423C-979A-A1545BC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391" y="672336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B4CAA8-DB62-4AD2-8913-D371982A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022" y="955029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318803-37DE-44C7-8242-BD2211AA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0010" y="420559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332AD1-A62D-462D-BCE5-7BA1E37E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412" y="990973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C6B0AA-8831-47FC-8103-BA844253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676" y="522465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350B01-2E2B-4FFA-BBCE-6AFA45C0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68" y="865263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6E9026-DC22-4D2C-8ACB-0B176D32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061" y="598496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F6972A-90FB-4A1D-AFE9-2C2D0B2B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156" y="745369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215EF9-BCB2-4C4B-9D0F-F12135BF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3364" y="596146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DE3A77-B954-43B2-B10C-A2C5BF9A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619" y="1141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281F37-0168-4875-827A-C3643E38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55" y="968786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473554-FAE1-493E-8DC7-BD4F0C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513" y="552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C4059B-2D2D-4912-8F05-D05F78AD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0216" y="347022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F88B91-511E-4762-8CD6-BB6D9376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9859" y="87213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2B426C-32C3-45C7-BE43-7DB3A35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388" y="989596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C6F730-24C6-40D8-8335-74D96665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280" y="2437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664054-4B9E-471D-B9F9-7D9300D8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413" y="411140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3CECED-5F7D-4AC2-B546-C671E74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9346" y="592840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F172A2-4F91-4390-9356-DAECAC00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8" y="47763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BC4A1B-CC80-4C9A-AF45-5B16E7D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922" y="516188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DBB4A7-0447-4150-B1FF-9A7EA8D0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60" y="9949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496596-3DAF-4E4A-AB3F-36742C37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508" y="821758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C4D390-AAD5-4F31-87AD-CAC47507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266" y="94846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CD3F36-60B3-4704-A002-5EC7853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581" y="5644367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AD6B51-4EF7-4929-AB9D-5ECC4256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683" y="340618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F49133-1150-42FB-92F0-C6D82DC0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945" y="573781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A2DB31-17D5-451A-9B04-D7FA517B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714" y="53562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A2D090-FCC4-46EA-A154-62D63E7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067" y="578883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8344EDC-B9CA-449F-BB2D-3040110C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230" y="6690641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E7BD44-7D03-468D-AEB4-E13CEDED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429" y="1026679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A7E084-08D2-405E-888B-9A3131C2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906" y="5112356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9E67304-1E33-4C57-8C2B-2D00FE97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2863" y="335397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A8A271-B6CD-4736-885D-C1FA689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071" y="812192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FB45631-B8D4-4194-B7E0-76789FD0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904" y="956252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3A6ED7-15FD-47F9-879D-BFFE8B8B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548" y="18364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68E19A-DF57-47EC-92A1-4FC10B3D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125" y="5832902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1CB5E7-071B-4B30-A4DB-105832B8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498" y="260660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E8E31D-E8EB-4491-A3DF-843F8666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487" y="4010654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FDDF5E-1917-49C4-B282-25A5E96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266" y="6084413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10774B-2CF8-4113-95EA-FB4176F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679" y="537868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A52A175-3ECF-4E1F-8663-DC42C11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224" y="3798479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549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8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B8FCF9-18F1-4DD0-B014-36C541A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1811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2E8"/>
                </a:solidFill>
              </a:defRPr>
            </a:pPr>
            <a:r>
              <a:rPr sz="4650" b="1">
                <a:solidFill>
                  <a:srgbClr val="F7F2E8"/>
                </a:solidFill>
              </a:rPr>
              <a:t>Small worlds carry old evidence</a:t>
            </a:r>
          </a:p>
        </p:txBody>
      </p:sp>
      <p:sp>
        <p:nvSpPr>
          <p:cNvPr id="8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266749-74F5-4C37-AF95-D71F602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9944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8C1D9"/>
                </a:solidFill>
              </a:defRPr>
            </a:pPr>
            <a:r>
              <a:rPr sz="1950">
                <a:solidFill>
                  <a:srgbClr val="B8C1D9"/>
                </a:solidFill>
              </a:rPr>
              <a:t>Dwarf planets, comets, asteroids, and Kuiper Belt objects preserve material from the solar system's formation.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9F6D26-FA91-48D6-8D6F-9844BCA1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19350"/>
            <a:ext cx="9334500" cy="933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1507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C0E4989-E9E8-40CD-9827-8B47EBB4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76600"/>
            <a:ext cx="685800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B3555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284426-193C-450A-80DE-F3423E3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00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32C49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792A5A-1A9C-4BC0-83B0-FB90CB4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714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CFF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94" name="small-Pluto">
            <a:extLst xmlns:a="http://schemas.openxmlformats.org/drawingml/2006/main">
              <a:ext uri="{FF2B5EF4-FFF2-40B4-BE49-F238E27FC236}">
                <a16:creationId xmlns:a16="http://schemas.microsoft.com/office/drawing/2014/main" id="{BB2CA88C-CE41-462C-95B6-4DC3BCE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7528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Pluto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39A4764-7F5E-405A-AD16-39EAB608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609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EF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96" name="small-Eris">
            <a:extLst xmlns:a="http://schemas.openxmlformats.org/drawingml/2006/main">
              <a:ext uri="{FF2B5EF4-FFF2-40B4-BE49-F238E27FC236}">
                <a16:creationId xmlns:a16="http://schemas.microsoft.com/office/drawing/2014/main" id="{F8D2F72B-0D80-48BD-91E6-2A9D242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61341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Eris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9044C8-F599-419C-ACA8-6806BB37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4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2D7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98" name="small-Comet">
            <a:extLst xmlns:a="http://schemas.openxmlformats.org/drawingml/2006/main">
              <a:ext uri="{FF2B5EF4-FFF2-40B4-BE49-F238E27FC236}">
                <a16:creationId xmlns:a16="http://schemas.microsoft.com/office/drawing/2014/main" id="{B04BC476-8B16-4FF9-A570-8DA29025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0866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Comet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0AF8E0B-1992-4DF4-9BFD-6C42571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943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45"/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</a:ln>
        </p:spPr>
      </p:sp>
      <p:sp>
        <p:nvSpPr>
          <p:cNvPr id="100" name="small-Arrokoth">
            <a:extLst xmlns:a="http://schemas.openxmlformats.org/drawingml/2006/main">
              <a:ext uri="{FF2B5EF4-FFF2-40B4-BE49-F238E27FC236}">
                <a16:creationId xmlns:a16="http://schemas.microsoft.com/office/drawing/2014/main" id="{3C5EFE1E-407C-4479-B073-166434E0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981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2E8"/>
                </a:solidFill>
              </a:defRPr>
            </a:pPr>
            <a:r>
              <a:rPr sz="1500" b="1">
                <a:solidFill>
                  <a:srgbClr val="F7F2E8"/>
                </a:solidFill>
              </a:rPr>
              <a:t>Arrokoth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C8F128-0BB0-4FF4-965E-219627F0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2D7"/>
          </a:solidFill>
        </p:spPr>
      </p:sp>
      <p:sp>
        <p:nvSpPr>
          <p:cNvPr id="102" name="callout-title-Time capsules">
            <a:extLst xmlns:a="http://schemas.openxmlformats.org/drawingml/2006/main">
              <a:ext uri="{FF2B5EF4-FFF2-40B4-BE49-F238E27FC236}">
                <a16:creationId xmlns:a16="http://schemas.microsoft.com/office/drawing/2014/main" id="{D5680258-4487-4149-9B63-EB7CE03B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581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Time capsules</a:t>
            </a:r>
          </a:p>
        </p:txBody>
      </p:sp>
      <p:sp>
        <p:nvSpPr>
          <p:cNvPr id="103" name="callout-body-Time capsules">
            <a:extLst xmlns:a="http://schemas.openxmlformats.org/drawingml/2006/main">
              <a:ext uri="{FF2B5EF4-FFF2-40B4-BE49-F238E27FC236}">
                <a16:creationId xmlns:a16="http://schemas.microsoft.com/office/drawing/2014/main" id="{7FD6B248-4DF3-4ABF-88B3-B989D8E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5810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They are less altered by heat and geology than large planets, so they keep chemical clues.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0E1D44-3746-4F72-8A6E-D8BC49F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4A"/>
          </a:solidFill>
        </p:spPr>
      </p:sp>
      <p:sp>
        <p:nvSpPr>
          <p:cNvPr id="105" name="callout-title-Dynamic leftovers">
            <a:extLst xmlns:a="http://schemas.openxmlformats.org/drawingml/2006/main">
              <a:ext uri="{FF2B5EF4-FFF2-40B4-BE49-F238E27FC236}">
                <a16:creationId xmlns:a16="http://schemas.microsoft.com/office/drawing/2014/main" id="{D5875CFA-0ED1-49B1-8313-0D9C787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619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Dynamic leftovers</a:t>
            </a:r>
          </a:p>
        </p:txBody>
      </p:sp>
      <p:sp>
        <p:nvSpPr>
          <p:cNvPr id="106" name="callout-body-Dynamic leftovers">
            <a:extLst xmlns:a="http://schemas.openxmlformats.org/drawingml/2006/main">
              <a:ext uri="{FF2B5EF4-FFF2-40B4-BE49-F238E27FC236}">
                <a16:creationId xmlns:a16="http://schemas.microsoft.com/office/drawing/2014/main" id="{3678266B-E4BC-43B7-816F-56F0F620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91200"/>
            <a:ext cx="6191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Orbits can be nudged by giant planets, sending comets inward or scattering objects outward.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3CEEB0-6E8D-46B2-96E3-0F8696A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67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CFF"/>
          </a:solidFill>
        </p:spPr>
      </p:sp>
      <p:sp>
        <p:nvSpPr>
          <p:cNvPr id="108" name="callout-title-Exploration targets">
            <a:extLst xmlns:a="http://schemas.openxmlformats.org/drawingml/2006/main">
              <a:ext uri="{FF2B5EF4-FFF2-40B4-BE49-F238E27FC236}">
                <a16:creationId xmlns:a16="http://schemas.microsoft.com/office/drawing/2014/main" id="{A1196000-60A8-4326-82F5-F38F0E17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91400"/>
            <a:ext cx="619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Exploration targets</a:t>
            </a:r>
          </a:p>
        </p:txBody>
      </p:sp>
      <p:sp>
        <p:nvSpPr>
          <p:cNvPr id="109" name="callout-body-Exploration targets">
            <a:extLst xmlns:a="http://schemas.openxmlformats.org/drawingml/2006/main">
              <a:ext uri="{FF2B5EF4-FFF2-40B4-BE49-F238E27FC236}">
                <a16:creationId xmlns:a16="http://schemas.microsoft.com/office/drawing/2014/main" id="{2CCE9469-DA61-4118-A568-A75BA0C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772400"/>
            <a:ext cx="6191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1D9"/>
                </a:solidFill>
              </a:defRPr>
            </a:pPr>
            <a:r>
              <a:rPr sz="1575">
                <a:solidFill>
                  <a:srgbClr val="B8C1D9"/>
                </a:solidFill>
              </a:rPr>
              <a:t>Missions to asteroids and Kuiper Belt objects test ideas about planet formation.</a:t>
            </a:r>
          </a:p>
        </p:txBody>
      </p:sp>
      <p:sp>
        <p:nvSpPr>
          <p:cNvPr id="110" name="source">
            <a:extLst xmlns:a="http://schemas.openxmlformats.org/drawingml/2006/main">
              <a:ext uri="{FF2B5EF4-FFF2-40B4-BE49-F238E27FC236}">
                <a16:creationId xmlns:a16="http://schemas.microsoft.com/office/drawing/2014/main" id="{F4D17CF4-74EB-42F9-B566-79E9F17C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08C"/>
                </a:solidFill>
              </a:defRPr>
            </a:pPr>
            <a:r>
              <a:rPr sz="1050">
                <a:solidFill>
                  <a:srgbClr val="65708C"/>
                </a:solidFill>
              </a:rPr>
              <a:t>Solar 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11157940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C8562-5D96-47A9-9134-83F0D834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0f62fc820496d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0"/>
            <a:ext cx="7429500" cy="1028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8C3C-79AE-4712-BBD9-02BB919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828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>
              <a:alpha val="5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D259A-9448-4D9F-A7A8-4C83548B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>
              <a:alpha val="94118"/>
            </a:srgbClr>
          </a:solidFill>
        </p:spPr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6A4B8AA4-5DF7-48AB-9C9D-2B2EA058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8382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7F2E8"/>
                </a:solidFill>
              </a:defRPr>
            </a:pPr>
            <a:r>
              <a:rPr sz="5400" b="1">
                <a:solidFill>
                  <a:srgbClr val="F7F2E8"/>
                </a:solidFill>
              </a:rPr>
              <a:t>The solar system is our nearest laboratory</a:t>
            </a:r>
          </a:p>
        </p:txBody>
      </p:sp>
      <p:sp>
        <p:nvSpPr>
          <p:cNvPr id="6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C46D00AB-4894-49BD-83C1-C467CCEE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838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B8C1D9"/>
                </a:solidFill>
              </a:defRPr>
            </a:pPr>
            <a:r>
              <a:rPr sz="2250">
                <a:solidFill>
                  <a:srgbClr val="B8C1D9"/>
                </a:solidFill>
              </a:rPr>
              <a:t>It gives us a close-up record of how planets form, how climates change, and where life might persist.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E1E9A-5C65-4FC9-8CD0-4060B1ED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24A"/>
          </a:solidFill>
        </p:spPr>
      </p:sp>
      <p:sp>
        <p:nvSpPr>
          <p:cNvPr id="8" name="closing-Origins">
            <a:extLst xmlns:a="http://schemas.openxmlformats.org/drawingml/2006/main">
              <a:ext uri="{FF2B5EF4-FFF2-40B4-BE49-F238E27FC236}">
                <a16:creationId xmlns:a16="http://schemas.microsoft.com/office/drawing/2014/main" id="{A2292920-B8F6-4471-9363-78326DC2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720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2E8"/>
                </a:solidFill>
              </a:defRPr>
            </a:pPr>
            <a:r>
              <a:rPr sz="2175" b="1">
                <a:solidFill>
                  <a:srgbClr val="F7F2E8"/>
                </a:solidFill>
              </a:rPr>
              <a:t>Origins</a:t>
            </a:r>
          </a:p>
        </p:txBody>
      </p:sp>
      <p:sp>
        <p:nvSpPr>
          <p:cNvPr id="9" name="closing-desc-Origins">
            <a:extLst xmlns:a="http://schemas.openxmlformats.org/drawingml/2006/main">
              <a:ext uri="{FF2B5EF4-FFF2-40B4-BE49-F238E27FC236}">
                <a16:creationId xmlns:a16="http://schemas.microsoft.com/office/drawing/2014/main" id="{EFD66F0F-58C3-4C15-BCAB-8573A14D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Planetary leftovers reveal the ingredients that built worlds.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E92D4-7B2B-4B50-9CD1-B55626E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0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9FF"/>
          </a:solidFill>
        </p:spPr>
      </p:sp>
      <p:sp>
        <p:nvSpPr>
          <p:cNvPr id="11" name="closing-Habitability">
            <a:extLst xmlns:a="http://schemas.openxmlformats.org/drawingml/2006/main">
              <a:ext uri="{FF2B5EF4-FFF2-40B4-BE49-F238E27FC236}">
                <a16:creationId xmlns:a16="http://schemas.microsoft.com/office/drawing/2014/main" id="{2A792318-574E-4200-A736-6B3569DD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2293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2E8"/>
                </a:solidFill>
              </a:defRPr>
            </a:pPr>
            <a:r>
              <a:rPr sz="2175" b="1">
                <a:solidFill>
                  <a:srgbClr val="F7F2E8"/>
                </a:solidFill>
              </a:rPr>
              <a:t>Habitability</a:t>
            </a:r>
          </a:p>
        </p:txBody>
      </p:sp>
      <p:sp>
        <p:nvSpPr>
          <p:cNvPr id="12" name="closing-desc-Habitability">
            <a:extLst xmlns:a="http://schemas.openxmlformats.org/drawingml/2006/main">
              <a:ext uri="{FF2B5EF4-FFF2-40B4-BE49-F238E27FC236}">
                <a16:creationId xmlns:a16="http://schemas.microsoft.com/office/drawing/2014/main" id="{F380C710-2984-45E9-9B79-4538A49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629400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Comparing Earth, Venus, Mars, and icy moons sharpens the question of life.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934A-2DCA-45D0-8F90-5584AFF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62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2D7"/>
          </a:solidFill>
        </p:spPr>
      </p:sp>
      <p:sp>
        <p:nvSpPr>
          <p:cNvPr id="14" name="closing-Exploration">
            <a:extLst xmlns:a="http://schemas.openxmlformats.org/drawingml/2006/main">
              <a:ext uri="{FF2B5EF4-FFF2-40B4-BE49-F238E27FC236}">
                <a16:creationId xmlns:a16="http://schemas.microsoft.com/office/drawing/2014/main" id="{C8010B8F-676F-454D-B7A4-DBE7BB5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4866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2E8"/>
                </a:solidFill>
              </a:defRPr>
            </a:pPr>
            <a:r>
              <a:rPr sz="2175" b="1">
                <a:solidFill>
                  <a:srgbClr val="F7F2E8"/>
                </a:solidFill>
              </a:rPr>
              <a:t>Exploration</a:t>
            </a:r>
          </a:p>
        </p:txBody>
      </p:sp>
      <p:sp>
        <p:nvSpPr>
          <p:cNvPr id="15" name="closing-desc-Exploration">
            <a:extLst xmlns:a="http://schemas.openxmlformats.org/drawingml/2006/main">
              <a:ext uri="{FF2B5EF4-FFF2-40B4-BE49-F238E27FC236}">
                <a16:creationId xmlns:a16="http://schemas.microsoft.com/office/drawing/2014/main" id="{F35A0273-1827-4844-85E4-4ACADAB1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8867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9"/>
                </a:solidFill>
              </a:defRPr>
            </a:pPr>
            <a:r>
              <a:rPr sz="1725">
                <a:solidFill>
                  <a:srgbClr val="B8C1D9"/>
                </a:solidFill>
              </a:rPr>
              <a:t>Every mission turns distant dots into places with histories.</a:t>
            </a:r>
          </a:p>
        </p:txBody>
      </p:sp>
      <p:sp>
        <p:nvSpPr>
          <p:cNvPr id="16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F41BD364-A6DB-46DF-A999-7A98CB72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297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B24A"/>
                </a:solidFill>
              </a:defRPr>
            </a:pPr>
            <a:r>
              <a:rPr sz="2250" b="1">
                <a:solidFill>
                  <a:srgbClr val="F6B24A"/>
                </a:solidFill>
              </a:rPr>
              <a:t>From one star, a family of worlds.</a:t>
            </a:r>
          </a:p>
        </p:txBody>
      </p:sp>
    </p:spTree>
    <p:extLst>
      <p:ext uri="{BB962C8B-B14F-4D97-AF65-F5344CB8AC3E}">
        <p14:creationId xmlns:p14="http://schemas.microsoft.com/office/powerpoint/2010/main" val="1647036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2026-05-19T12:25:56.4860000Z</dcterms:created>
  <dcterms:modified xsi:type="dcterms:W3CDTF">2026-05-19T12:25:56.4860000Z</dcterms:modified>
</coreProperties>
</file>